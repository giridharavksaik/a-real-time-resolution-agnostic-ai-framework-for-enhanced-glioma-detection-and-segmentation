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FB0F0E-B1B9-4BAB-8756-F67C4D03510B}" type="datetimeFigureOut">
              <a:rPr lang="en-IN" smtClean="0"/>
              <a:t>06-04-2026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E0D14-B3E0-408B-98EC-CD7FC32AFBF7}" type="slidenum">
              <a:rPr lang="en-IN" smtClean="0"/>
              <a:t>‹#›</a:t>
            </a:fld>
            <a:endParaRPr lang="en-IN" dirty="0"/>
          </a:p>
        </p:txBody>
      </p:sp>
    </p:spTree>
    <p:extLst>
      <p:ext uri="{BB962C8B-B14F-4D97-AF65-F5344CB8AC3E}">
        <p14:creationId xmlns:p14="http://schemas.microsoft.com/office/powerpoint/2010/main" val="691927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1E0D14-B3E0-408B-98EC-CD7FC32AFBF7}" type="slidenum">
              <a:rPr lang="en-IN" smtClean="0"/>
              <a:t>2</a:t>
            </a:fld>
            <a:endParaRPr lang="en-IN" dirty="0"/>
          </a:p>
        </p:txBody>
      </p:sp>
    </p:spTree>
    <p:extLst>
      <p:ext uri="{BB962C8B-B14F-4D97-AF65-F5344CB8AC3E}">
        <p14:creationId xmlns:p14="http://schemas.microsoft.com/office/powerpoint/2010/main" val="269464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981702-F1FE-43BB-881A-95B92E6FB1C5}" type="datetime1">
              <a:rPr lang="en-IN" smtClean="0"/>
              <a:t>06-04-2026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8F7052E-6653-4917-A34D-F57A760E32EA}" type="slidenum">
              <a:rPr lang="en-IN" smtClean="0"/>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075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DB3AE-CD5C-4DD0-A6F0-B0A79F02CF0D}" type="datetime1">
              <a:rPr lang="en-IN" smtClean="0"/>
              <a:t>06-04-2026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2529474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C63806-6CE1-403B-A1ED-CE9C1C689006}" type="datetime1">
              <a:rPr lang="en-IN" smtClean="0"/>
              <a:t>06-04-2026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8F7052E-6653-4917-A34D-F57A760E32EA}" type="slidenum">
              <a:rPr lang="en-IN" smtClean="0"/>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69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75BD93-F82E-44BD-8A52-75436EBAAD9F}" type="datetime1">
              <a:rPr lang="en-IN" smtClean="0"/>
              <a:t>06-04-2026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1145307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668906-BEC6-4963-AD08-45C05F8F5593}" type="datetime1">
              <a:rPr lang="en-IN" smtClean="0"/>
              <a:t>06-04-2026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620548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C3B32E-B472-434A-A684-D8E4530038DE}" type="datetime1">
              <a:rPr lang="en-IN" smtClean="0"/>
              <a:t>06-04-2026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267937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918C22E-E7D8-42BA-BA66-535E53AC6818}" type="datetime1">
              <a:rPr lang="en-IN" smtClean="0"/>
              <a:t>06-04-2026</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dirty="0"/>
          </a:p>
        </p:txBody>
      </p:sp>
      <p:sp>
        <p:nvSpPr>
          <p:cNvPr id="9" name="Slide Number Placeholder 8"/>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215332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9C6863A-9C65-4A18-A2FC-E615EA09C0F1}" type="datetime1">
              <a:rPr lang="en-IN" smtClean="0"/>
              <a:t>06-04-2026</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8F7052E-6653-4917-A34D-F57A760E32EA}" type="slidenum">
              <a:rPr lang="en-IN" smtClean="0"/>
              <a:t>‹#›</a:t>
            </a:fld>
            <a:endParaRPr lang="en-IN" dirty="0"/>
          </a:p>
        </p:txBody>
      </p:sp>
    </p:spTree>
    <p:extLst>
      <p:ext uri="{BB962C8B-B14F-4D97-AF65-F5344CB8AC3E}">
        <p14:creationId xmlns:p14="http://schemas.microsoft.com/office/powerpoint/2010/main" val="615899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4AB70B-8F3B-45DB-B2D5-76F1DFEACADF}" type="datetime1">
              <a:rPr lang="en-IN" smtClean="0"/>
              <a:t>06-04-2026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1255988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EE6375-3371-4186-B644-B4901A098416}" type="datetime1">
              <a:rPr lang="en-IN" smtClean="0"/>
              <a:t>06-04-2026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3232969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76D04B-D523-4169-8FB9-0D235698F5A5}" type="datetime1">
              <a:rPr lang="en-IN" smtClean="0"/>
              <a:t>06-04-2026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8F7052E-6653-4917-A34D-F57A760E32EA}" type="slidenum">
              <a:rPr lang="en-IN" smtClean="0"/>
              <a:t>‹#›</a:t>
            </a:fld>
            <a:endParaRPr lang="en-IN" dirty="0"/>
          </a:p>
        </p:txBody>
      </p:sp>
    </p:spTree>
    <p:extLst>
      <p:ext uri="{BB962C8B-B14F-4D97-AF65-F5344CB8AC3E}">
        <p14:creationId xmlns:p14="http://schemas.microsoft.com/office/powerpoint/2010/main" val="803090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1370D3D-9AA4-4C6A-8B93-D5F4B72301DB}" type="datetime1">
              <a:rPr lang="en-IN" smtClean="0"/>
              <a:t>06-04-2026</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8F7052E-6653-4917-A34D-F57A760E32EA}" type="slidenum">
              <a:rPr lang="en-IN" smtClean="0"/>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3642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4F39-76DF-1FEF-3E10-38A8D40C3EB7}"/>
              </a:ext>
            </a:extLst>
          </p:cNvPr>
          <p:cNvSpPr>
            <a:spLocks noGrp="1"/>
          </p:cNvSpPr>
          <p:nvPr>
            <p:ph type="ctrTitle"/>
          </p:nvPr>
        </p:nvSpPr>
        <p:spPr/>
        <p:txBody>
          <a:bodyPr>
            <a:normAutofit/>
          </a:bodyPr>
          <a:lstStyle/>
          <a:p>
            <a:pPr algn="ctr"/>
            <a:r>
              <a:rPr lang="en-US" sz="4400" b="1" dirty="0">
                <a:solidFill>
                  <a:srgbClr val="C00000"/>
                </a:solidFill>
                <a:latin typeface="Times New Roman"/>
                <a:cs typeface="Times New Roman"/>
              </a:rPr>
              <a:t>A Real-Time, Resolution-Agnostic AI Framework for Enhanced Glioma Detection and Segmentation</a:t>
            </a:r>
            <a:endParaRPr lang="en-IN" sz="4400" b="1"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E3260E2B-C150-7C46-3CB0-8553F3ED9558}"/>
              </a:ext>
            </a:extLst>
          </p:cNvPr>
          <p:cNvSpPr txBox="1">
            <a:spLocks/>
          </p:cNvSpPr>
          <p:nvPr/>
        </p:nvSpPr>
        <p:spPr>
          <a:xfrm>
            <a:off x="1524000" y="4424264"/>
            <a:ext cx="3313472" cy="122230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solidFill>
                  <a:srgbClr val="002060"/>
                </a:solidFill>
                <a:latin typeface="Times New Roman"/>
                <a:cs typeface="Times New Roman"/>
              </a:rPr>
              <a:t>Project Supervisor:</a:t>
            </a:r>
            <a:br>
              <a:rPr lang="en-US" sz="2400" b="1" dirty="0">
                <a:solidFill>
                  <a:srgbClr val="002060"/>
                </a:solidFill>
                <a:latin typeface="Times New Roman"/>
                <a:cs typeface="Times New Roman"/>
              </a:rPr>
            </a:br>
            <a:br>
              <a:rPr lang="en-US" sz="1800" dirty="0">
                <a:latin typeface="Times New Roman" panose="02020603050405020304" pitchFamily="18" charset="0"/>
                <a:cs typeface="Times New Roman" panose="02020603050405020304" pitchFamily="18" charset="0"/>
              </a:rPr>
            </a:br>
            <a:r>
              <a:rPr lang="en-US" sz="1800" b="1" dirty="0">
                <a:solidFill>
                  <a:srgbClr val="002060"/>
                </a:solidFill>
                <a:latin typeface="Times New Roman"/>
                <a:ea typeface="+mn-lt"/>
                <a:cs typeface="Times New Roman"/>
              </a:rPr>
              <a:t>Mr. N. Srinivasa Rao </a:t>
            </a:r>
            <a:br>
              <a:rPr lang="en-US" sz="1800" b="1" dirty="0">
                <a:latin typeface="Times New Roman" panose="02020603050405020304" pitchFamily="18" charset="0"/>
                <a:ea typeface="+mn-lt"/>
                <a:cs typeface="Times New Roman" panose="02020603050405020304" pitchFamily="18" charset="0"/>
              </a:rPr>
            </a:br>
            <a:r>
              <a:rPr lang="en-US" sz="1800" b="1" dirty="0">
                <a:solidFill>
                  <a:srgbClr val="002060"/>
                </a:solidFill>
                <a:latin typeface="Times New Roman"/>
                <a:ea typeface="+mn-lt"/>
                <a:cs typeface="Times New Roman"/>
              </a:rPr>
              <a:t>Sr. Assistant Professor</a:t>
            </a:r>
            <a:endParaRPr lang="en-US" sz="1800" b="1" dirty="0">
              <a:solidFill>
                <a:srgbClr val="002060"/>
              </a:solidFill>
              <a:latin typeface="Times New Roman"/>
              <a:cs typeface="Times New Roman"/>
            </a:endParaRPr>
          </a:p>
        </p:txBody>
      </p:sp>
      <p:sp>
        <p:nvSpPr>
          <p:cNvPr id="8" name="TextBox 7">
            <a:extLst>
              <a:ext uri="{FF2B5EF4-FFF2-40B4-BE49-F238E27FC236}">
                <a16:creationId xmlns:a16="http://schemas.microsoft.com/office/drawing/2014/main" id="{8949DAB2-849C-223F-E949-05D0F295510B}"/>
              </a:ext>
            </a:extLst>
          </p:cNvPr>
          <p:cNvSpPr txBox="1"/>
          <p:nvPr/>
        </p:nvSpPr>
        <p:spPr>
          <a:xfrm>
            <a:off x="7157883" y="4424264"/>
            <a:ext cx="3746091" cy="2092881"/>
          </a:xfrm>
          <a:prstGeom prst="rect">
            <a:avLst/>
          </a:prstGeom>
          <a:noFill/>
        </p:spPr>
        <p:txBody>
          <a:bodyPr wrap="square" lIns="91440" tIns="45720" rIns="91440" bIns="45720" anchor="t">
            <a:spAutoFit/>
          </a:bodyPr>
          <a:lstStyle/>
          <a:p>
            <a:pPr algn="ctr"/>
            <a:r>
              <a:rPr lang="en-US" sz="2000" b="1" dirty="0">
                <a:solidFill>
                  <a:srgbClr val="002060"/>
                </a:solidFill>
                <a:latin typeface="Times New Roman" panose="02020603050405020304" pitchFamily="18" charset="0"/>
                <a:ea typeface="+mn-lt"/>
                <a:cs typeface="Times New Roman" panose="02020603050405020304" pitchFamily="18" charset="0"/>
              </a:rPr>
              <a:t>Batch No: 19</a:t>
            </a:r>
          </a:p>
          <a:p>
            <a:pPr algn="ctr"/>
            <a:r>
              <a:rPr lang="en-US" sz="2000" b="1" dirty="0">
                <a:solidFill>
                  <a:srgbClr val="002060"/>
                </a:solidFill>
                <a:latin typeface="Times New Roman" panose="02020603050405020304" pitchFamily="18" charset="0"/>
                <a:ea typeface="+mn-lt"/>
                <a:cs typeface="Times New Roman" panose="02020603050405020304" pitchFamily="18" charset="0"/>
              </a:rPr>
              <a:t>Team Members:</a:t>
            </a:r>
            <a:endParaRPr lang="en-US" b="1" dirty="0">
              <a:solidFill>
                <a:srgbClr val="002060"/>
              </a:solidFill>
              <a:latin typeface="Times New Roman"/>
              <a:ea typeface="+mn-lt"/>
              <a:cs typeface="Times New Roman"/>
            </a:endParaRPr>
          </a:p>
          <a:p>
            <a:pPr algn="ctr"/>
            <a:r>
              <a:rPr lang="en-US" b="1" dirty="0">
                <a:solidFill>
                  <a:srgbClr val="002060"/>
                </a:solidFill>
                <a:latin typeface="Times New Roman" panose="02020603050405020304" pitchFamily="18" charset="0"/>
                <a:ea typeface="+mn-lt"/>
                <a:cs typeface="Times New Roman" panose="02020603050405020304" pitchFamily="18" charset="0"/>
              </a:rPr>
              <a:t>CH. Yaswanth (22761A0511)</a:t>
            </a:r>
          </a:p>
          <a:p>
            <a:pPr algn="ctr"/>
            <a:r>
              <a:rPr lang="en-US" b="1" dirty="0">
                <a:solidFill>
                  <a:srgbClr val="002060"/>
                </a:solidFill>
                <a:latin typeface="Times New Roman" panose="02020603050405020304" pitchFamily="18" charset="0"/>
                <a:ea typeface="+mn-lt"/>
                <a:cs typeface="Times New Roman" panose="02020603050405020304" pitchFamily="18" charset="0"/>
              </a:rPr>
              <a:t> K. Hariprasad (22761A0524)</a:t>
            </a:r>
          </a:p>
          <a:p>
            <a:pPr algn="ctr"/>
            <a:r>
              <a:rPr lang="en-US" b="1" dirty="0">
                <a:solidFill>
                  <a:srgbClr val="002060"/>
                </a:solidFill>
                <a:latin typeface="Times New Roman" panose="02020603050405020304" pitchFamily="18" charset="0"/>
                <a:ea typeface="+mn-lt"/>
                <a:cs typeface="Times New Roman" panose="02020603050405020304" pitchFamily="18" charset="0"/>
              </a:rPr>
              <a:t>K. Giridhara Venkata </a:t>
            </a:r>
            <a:r>
              <a:rPr lang="en-US" b="1" dirty="0">
                <a:solidFill>
                  <a:srgbClr val="002060"/>
                </a:solidFill>
                <a:latin typeface="Times New Roman"/>
                <a:ea typeface="+mn-lt"/>
                <a:cs typeface="Times New Roman"/>
              </a:rPr>
              <a:t>Krishna Sai (23765A0502)  </a:t>
            </a:r>
            <a:r>
              <a:rPr lang="en-US" b="1" dirty="0">
                <a:solidFill>
                  <a:srgbClr val="002060"/>
                </a:solidFill>
                <a:latin typeface="Times New Roman" panose="02020603050405020304" pitchFamily="18" charset="0"/>
                <a:ea typeface="+mn-lt"/>
                <a:cs typeface="Times New Roman" panose="02020603050405020304" pitchFamily="18" charset="0"/>
              </a:rPr>
              <a:t> </a:t>
            </a:r>
            <a:br>
              <a:rPr lang="en-US" b="1" dirty="0">
                <a:latin typeface="Times New Roman" panose="02020603050405020304" pitchFamily="18" charset="0"/>
                <a:ea typeface="+mn-lt"/>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46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88F27-9EDD-36BD-2D56-43B154B50291}"/>
              </a:ext>
            </a:extLst>
          </p:cNvPr>
          <p:cNvSpPr>
            <a:spLocks noGrp="1"/>
          </p:cNvSpPr>
          <p:nvPr>
            <p:ph type="title"/>
          </p:nvPr>
        </p:nvSpPr>
        <p:spPr/>
        <p:txBody>
          <a:bodyPr/>
          <a:lstStyle/>
          <a:p>
            <a:r>
              <a:rPr lang="en-IN" dirty="0">
                <a:solidFill>
                  <a:srgbClr val="C00000"/>
                </a:solidFill>
                <a:latin typeface="Times New Roman"/>
                <a:cs typeface="Times New Roman"/>
              </a:rPr>
              <a:t>Table  of  Contents</a:t>
            </a:r>
            <a:endParaRPr lang="en-IN" dirty="0"/>
          </a:p>
        </p:txBody>
      </p:sp>
      <p:sp>
        <p:nvSpPr>
          <p:cNvPr id="3" name="Content Placeholder 2">
            <a:extLst>
              <a:ext uri="{FF2B5EF4-FFF2-40B4-BE49-F238E27FC236}">
                <a16:creationId xmlns:a16="http://schemas.microsoft.com/office/drawing/2014/main" id="{BE6933EB-7925-9B7B-3216-70A10C5D302B}"/>
              </a:ext>
            </a:extLst>
          </p:cNvPr>
          <p:cNvSpPr>
            <a:spLocks noGrp="1"/>
          </p:cNvSpPr>
          <p:nvPr>
            <p:ph idx="1"/>
          </p:nvPr>
        </p:nvSpPr>
        <p:spPr>
          <a:xfrm>
            <a:off x="1097280" y="1737360"/>
            <a:ext cx="10058400" cy="4131734"/>
          </a:xfrm>
        </p:spPr>
        <p:txBody>
          <a:bodyPr numCol="1">
            <a:noAutofit/>
          </a:bodyPr>
          <a:lstStyle/>
          <a:p>
            <a:pPr>
              <a:buFont typeface="Wingdings" panose="05000000000000000000" pitchFamily="2" charset="2"/>
              <a:buChar char="Ø"/>
            </a:pPr>
            <a:r>
              <a:rPr lang="en-IN" sz="1800" dirty="0">
                <a:latin typeface="Times New Roman"/>
                <a:cs typeface="Times New Roman"/>
              </a:rPr>
              <a:t>Abstract </a:t>
            </a:r>
          </a:p>
          <a:p>
            <a:pPr>
              <a:buFont typeface="Wingdings" panose="05000000000000000000" pitchFamily="2" charset="2"/>
              <a:buChar char="Ø"/>
            </a:pPr>
            <a:r>
              <a:rPr lang="en-IN" sz="1800" dirty="0">
                <a:latin typeface="Times New Roman"/>
                <a:cs typeface="Times New Roman"/>
              </a:rPr>
              <a:t>Introduction</a:t>
            </a:r>
          </a:p>
          <a:p>
            <a:pPr>
              <a:buFont typeface="Wingdings" panose="05000000000000000000" pitchFamily="2" charset="2"/>
              <a:buChar char="Ø"/>
            </a:pPr>
            <a:r>
              <a:rPr lang="en-IN" sz="1800" dirty="0">
                <a:latin typeface="Times New Roman"/>
                <a:cs typeface="Times New Roman"/>
              </a:rPr>
              <a:t>Existing system</a:t>
            </a:r>
          </a:p>
          <a:p>
            <a:pPr>
              <a:buFont typeface="Wingdings" panose="05000000000000000000" pitchFamily="2" charset="2"/>
              <a:buChar char="Ø"/>
            </a:pPr>
            <a:r>
              <a:rPr lang="en-IN" sz="1800" dirty="0">
                <a:latin typeface="Times New Roman"/>
                <a:cs typeface="Times New Roman"/>
              </a:rPr>
              <a:t>Drawbacks</a:t>
            </a:r>
          </a:p>
          <a:p>
            <a:pPr>
              <a:buFont typeface="Wingdings" panose="05000000000000000000" pitchFamily="2" charset="2"/>
              <a:buChar char="Ø"/>
            </a:pPr>
            <a:r>
              <a:rPr lang="en-IN" sz="1800" dirty="0">
                <a:latin typeface="Times New Roman"/>
                <a:cs typeface="Times New Roman"/>
              </a:rPr>
              <a:t>Literature Survey</a:t>
            </a:r>
          </a:p>
          <a:p>
            <a:pPr>
              <a:buFont typeface="Wingdings" panose="05000000000000000000" pitchFamily="2" charset="2"/>
              <a:buChar char="Ø"/>
            </a:pPr>
            <a:r>
              <a:rPr lang="en-IN" sz="1800" dirty="0">
                <a:latin typeface="Times New Roman"/>
                <a:cs typeface="Times New Roman"/>
              </a:rPr>
              <a:t>Proposed solution</a:t>
            </a:r>
            <a:endParaRPr lang="en-US" sz="1800" dirty="0">
              <a:latin typeface="Times New Roman"/>
              <a:cs typeface="Times New Roman"/>
            </a:endParaRPr>
          </a:p>
          <a:p>
            <a:pPr>
              <a:buFont typeface="Wingdings" panose="05000000000000000000" pitchFamily="2" charset="2"/>
              <a:buChar char="Ø"/>
            </a:pPr>
            <a:r>
              <a:rPr lang="en-US" sz="1800" dirty="0">
                <a:latin typeface="Times New Roman"/>
                <a:cs typeface="Times New Roman"/>
              </a:rPr>
              <a:t>Model Architecture</a:t>
            </a:r>
          </a:p>
          <a:p>
            <a:pPr>
              <a:buFont typeface="Wingdings" panose="05000000000000000000" pitchFamily="2" charset="2"/>
              <a:buChar char="Ø"/>
            </a:pPr>
            <a:r>
              <a:rPr lang="en-US" sz="1800" dirty="0">
                <a:latin typeface="Times New Roman"/>
                <a:cs typeface="Times New Roman"/>
              </a:rPr>
              <a:t>Dataset</a:t>
            </a:r>
          </a:p>
          <a:p>
            <a:pPr>
              <a:buFont typeface="Wingdings" panose="05000000000000000000" pitchFamily="2" charset="2"/>
              <a:buChar char="Ø"/>
            </a:pPr>
            <a:r>
              <a:rPr lang="en-US" sz="1800" dirty="0">
                <a:latin typeface="Times New Roman"/>
                <a:cs typeface="Times New Roman"/>
              </a:rPr>
              <a:t>Preprocessing</a:t>
            </a:r>
          </a:p>
          <a:p>
            <a:pPr>
              <a:buFont typeface="Wingdings" panose="05000000000000000000" pitchFamily="2" charset="2"/>
              <a:buChar char="Ø"/>
            </a:pPr>
            <a:r>
              <a:rPr lang="en-US" sz="1800" dirty="0">
                <a:latin typeface="Times New Roman"/>
                <a:cs typeface="Times New Roman"/>
              </a:rPr>
              <a:t>Results</a:t>
            </a:r>
            <a:endParaRPr lang="en-IN" sz="1800" dirty="0">
              <a:latin typeface="Times New Roman"/>
              <a:cs typeface="Times New Roman"/>
            </a:endParaRPr>
          </a:p>
          <a:p>
            <a:pPr>
              <a:buFont typeface="Wingdings" panose="05000000000000000000" pitchFamily="2" charset="2"/>
              <a:buChar char="Ø"/>
            </a:pPr>
            <a:r>
              <a:rPr lang="en-IN" sz="1800" dirty="0">
                <a:latin typeface="+mj-lt"/>
              </a:rPr>
              <a:t>Conclusion</a:t>
            </a:r>
          </a:p>
        </p:txBody>
      </p:sp>
      <p:sp>
        <p:nvSpPr>
          <p:cNvPr id="4" name="Slide Number Placeholder 3">
            <a:extLst>
              <a:ext uri="{FF2B5EF4-FFF2-40B4-BE49-F238E27FC236}">
                <a16:creationId xmlns:a16="http://schemas.microsoft.com/office/drawing/2014/main" id="{675DCEE2-E0B1-0B36-1079-816689B512BF}"/>
              </a:ext>
            </a:extLst>
          </p:cNvPr>
          <p:cNvSpPr>
            <a:spLocks noGrp="1"/>
          </p:cNvSpPr>
          <p:nvPr>
            <p:ph type="sldNum" sz="quarter" idx="12"/>
          </p:nvPr>
        </p:nvSpPr>
        <p:spPr/>
        <p:txBody>
          <a:bodyPr/>
          <a:lstStyle/>
          <a:p>
            <a:fld id="{D8F7052E-6653-4917-A34D-F57A760E32EA}" type="slidenum">
              <a:rPr lang="en-IN" smtClean="0"/>
              <a:t>2</a:t>
            </a:fld>
            <a:endParaRPr lang="en-IN" dirty="0"/>
          </a:p>
        </p:txBody>
      </p:sp>
    </p:spTree>
    <p:extLst>
      <p:ext uri="{BB962C8B-B14F-4D97-AF65-F5344CB8AC3E}">
        <p14:creationId xmlns:p14="http://schemas.microsoft.com/office/powerpoint/2010/main" val="3044026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E34C-7A36-55D1-8DE9-9C9E2594956F}"/>
              </a:ext>
            </a:extLst>
          </p:cNvPr>
          <p:cNvSpPr>
            <a:spLocks noGrp="1"/>
          </p:cNvSpPr>
          <p:nvPr>
            <p:ph type="title"/>
          </p:nvPr>
        </p:nvSpPr>
        <p:spPr>
          <a:xfrm>
            <a:off x="838200" y="512609"/>
            <a:ext cx="10515600" cy="1099881"/>
          </a:xfrm>
        </p:spPr>
        <p:txBody>
          <a:bodyPr/>
          <a:lstStyle/>
          <a:p>
            <a:r>
              <a:rPr lang="en-US" dirty="0">
                <a:solidFill>
                  <a:srgbClr val="C00000"/>
                </a:solidFill>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539655B2-F018-0543-7ACC-2AB3FA0C0644}"/>
              </a:ext>
            </a:extLst>
          </p:cNvPr>
          <p:cNvSpPr>
            <a:spLocks noGrp="1"/>
          </p:cNvSpPr>
          <p:nvPr>
            <p:ph idx="1"/>
          </p:nvPr>
        </p:nvSpPr>
        <p:spPr>
          <a:xfrm>
            <a:off x="838200" y="1681316"/>
            <a:ext cx="10515600" cy="4495647"/>
          </a:xfrm>
        </p:spPr>
        <p:txBody>
          <a:bodyPr anchor="ctr">
            <a:noAutofit/>
          </a:bodyPr>
          <a:lstStyle/>
          <a:p>
            <a:pPr marL="0" indent="0" algn="just">
              <a:lnSpc>
                <a:spcPct val="150000"/>
              </a:lnSpc>
              <a:buNone/>
            </a:pPr>
            <a:r>
              <a:rPr lang="en-US" sz="1800" dirty="0"/>
              <a:t>	Glioma detection remains a critical challenge in medical imaging due to its reliance on manual interpretation of Magnetic Resonance Imaging (MRI) scans, a process that is both time-intensive and prone to human error. To address this issue, we propose a real-time, resolution-agnostic framework designed for rapid and reliable glioma detection. The system integrates a modified VGG-16 backbone with parallel convolutional modules for enhanced feature extraction, a YOLO-based detection head for efficient tumor localization, and an improved HDSA segmentation head for precise boundary delineation. Furthermore, we introduce a novel Resolution Agnostic Loss (RAL) function to ensure consistent performance across varying scan resolutions. Experimental evaluation on the BraTS dataset demonstrates that the proposed framework achieves high precision while maintaining computational efficiency, highlighting its potential to support clinicians in accelerating diagnostic workflows without compromising accuracy.</a:t>
            </a:r>
          </a:p>
        </p:txBody>
      </p:sp>
      <p:sp>
        <p:nvSpPr>
          <p:cNvPr id="4" name="Slide Number Placeholder 3">
            <a:extLst>
              <a:ext uri="{FF2B5EF4-FFF2-40B4-BE49-F238E27FC236}">
                <a16:creationId xmlns:a16="http://schemas.microsoft.com/office/drawing/2014/main" id="{8A0889B1-96BF-59D5-93EE-743FDF162D73}"/>
              </a:ext>
            </a:extLst>
          </p:cNvPr>
          <p:cNvSpPr>
            <a:spLocks noGrp="1"/>
          </p:cNvSpPr>
          <p:nvPr>
            <p:ph type="sldNum" sz="quarter" idx="12"/>
          </p:nvPr>
        </p:nvSpPr>
        <p:spPr/>
        <p:txBody>
          <a:bodyPr/>
          <a:lstStyle/>
          <a:p>
            <a:fld id="{D8F7052E-6653-4917-A34D-F57A760E32EA}" type="slidenum">
              <a:rPr lang="en-IN" smtClean="0"/>
              <a:t>3</a:t>
            </a:fld>
            <a:endParaRPr lang="en-IN" dirty="0"/>
          </a:p>
        </p:txBody>
      </p:sp>
    </p:spTree>
    <p:extLst>
      <p:ext uri="{BB962C8B-B14F-4D97-AF65-F5344CB8AC3E}">
        <p14:creationId xmlns:p14="http://schemas.microsoft.com/office/powerpoint/2010/main" val="1904877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1466-FBAD-D1C9-04DD-0A6A33F276E0}"/>
              </a:ext>
            </a:extLst>
          </p:cNvPr>
          <p:cNvSpPr>
            <a:spLocks noGrp="1"/>
          </p:cNvSpPr>
          <p:nvPr>
            <p:ph type="title"/>
          </p:nvPr>
        </p:nvSpPr>
        <p:spPr>
          <a:xfrm>
            <a:off x="838200" y="365126"/>
            <a:ext cx="10350910" cy="1139210"/>
          </a:xfrm>
        </p:spPr>
        <p:txBody>
          <a:bodyPr>
            <a:normAutofit/>
          </a:bodyPr>
          <a:lstStyle/>
          <a:p>
            <a:r>
              <a:rPr lang="en-IN" dirty="0">
                <a:solidFill>
                  <a:srgbClr val="C00000"/>
                </a:solidFill>
                <a:latin typeface="Times New Roman" panose="02020603050405020304" pitchFamily="18" charset="0"/>
                <a:cs typeface="Times New Roman" panose="02020603050405020304" pitchFamily="18" charset="0"/>
              </a:rPr>
              <a:t>What is a Glioma???</a:t>
            </a:r>
            <a:endParaRPr lang="en-IN" dirty="0"/>
          </a:p>
        </p:txBody>
      </p:sp>
      <p:sp>
        <p:nvSpPr>
          <p:cNvPr id="3" name="Content Placeholder 2">
            <a:extLst>
              <a:ext uri="{FF2B5EF4-FFF2-40B4-BE49-F238E27FC236}">
                <a16:creationId xmlns:a16="http://schemas.microsoft.com/office/drawing/2014/main" id="{697F30B0-2A43-A22D-3D2D-571B078560B5}"/>
              </a:ext>
            </a:extLst>
          </p:cNvPr>
          <p:cNvSpPr>
            <a:spLocks noGrp="1"/>
          </p:cNvSpPr>
          <p:nvPr>
            <p:ph idx="1"/>
          </p:nvPr>
        </p:nvSpPr>
        <p:spPr>
          <a:xfrm>
            <a:off x="838200" y="1782540"/>
            <a:ext cx="5257800" cy="4672627"/>
          </a:xfrm>
        </p:spPr>
        <p:txBody>
          <a:bodyPr>
            <a:normAutofit lnSpcReduction="10000"/>
          </a:bodyPr>
          <a:lstStyle/>
          <a:p>
            <a:pPr>
              <a:lnSpc>
                <a:spcPct val="150000"/>
              </a:lnSpc>
            </a:pPr>
            <a:r>
              <a:rPr lang="en-US" sz="1800" dirty="0">
                <a:latin typeface="Times New Roman" panose="02020603050405020304" pitchFamily="18" charset="0"/>
                <a:cs typeface="Times New Roman" panose="02020603050405020304" pitchFamily="18" charset="0"/>
              </a:rPr>
              <a:t>A glioma is a tumor that forms when your body’s glial cells grow out of control. </a:t>
            </a:r>
          </a:p>
          <a:p>
            <a:pPr>
              <a:lnSpc>
                <a:spcPct val="150000"/>
              </a:lnSpc>
            </a:pPr>
            <a:r>
              <a:rPr lang="en-US" sz="1800" dirty="0">
                <a:latin typeface="Times New Roman" panose="02020603050405020304" pitchFamily="18" charset="0"/>
                <a:cs typeface="Times New Roman" panose="02020603050405020304" pitchFamily="18" charset="0"/>
              </a:rPr>
              <a:t>Glial cells support your nerves and help your central nervous system work.</a:t>
            </a:r>
          </a:p>
          <a:p>
            <a:pPr>
              <a:lnSpc>
                <a:spcPct val="150000"/>
              </a:lnSpc>
            </a:pPr>
            <a:r>
              <a:rPr lang="en-US" sz="1800" dirty="0">
                <a:latin typeface="Times New Roman" panose="02020603050405020304" pitchFamily="18" charset="0"/>
                <a:cs typeface="Times New Roman" panose="02020603050405020304" pitchFamily="18" charset="0"/>
              </a:rPr>
              <a:t> When these cells grow uncontrollably, they can form tumors in your brain or spinal cord.</a:t>
            </a:r>
          </a:p>
          <a:p>
            <a:pPr>
              <a:lnSpc>
                <a:spcPct val="150000"/>
              </a:lnSpc>
            </a:pPr>
            <a:r>
              <a:rPr lang="en-US" sz="1800" dirty="0">
                <a:latin typeface="Times New Roman" panose="02020603050405020304" pitchFamily="18" charset="0"/>
                <a:cs typeface="Times New Roman" panose="02020603050405020304" pitchFamily="18" charset="0"/>
              </a:rPr>
              <a:t>Gliomas are primary tumors. This means they form directly in your brain or spinal cord. They’re serious tumors that can be life-threatening. But treatments are available to help manage the disease.</a:t>
            </a:r>
          </a:p>
          <a:p>
            <a:endParaRPr lang="en-IN" sz="1800" dirty="0"/>
          </a:p>
        </p:txBody>
      </p:sp>
      <p:pic>
        <p:nvPicPr>
          <p:cNvPr id="12" name="Picture 11">
            <a:extLst>
              <a:ext uri="{FF2B5EF4-FFF2-40B4-BE49-F238E27FC236}">
                <a16:creationId xmlns:a16="http://schemas.microsoft.com/office/drawing/2014/main" id="{13C71ABD-D77F-5BC3-E6D3-8075606488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8935" y="1782540"/>
            <a:ext cx="3802543" cy="4442457"/>
          </a:xfrm>
          <a:prstGeom prst="rect">
            <a:avLst/>
          </a:prstGeom>
        </p:spPr>
      </p:pic>
      <p:sp>
        <p:nvSpPr>
          <p:cNvPr id="4" name="Slide Number Placeholder 3">
            <a:extLst>
              <a:ext uri="{FF2B5EF4-FFF2-40B4-BE49-F238E27FC236}">
                <a16:creationId xmlns:a16="http://schemas.microsoft.com/office/drawing/2014/main" id="{608A2C5F-CFF2-C6E1-4C4B-FC0EC325D687}"/>
              </a:ext>
            </a:extLst>
          </p:cNvPr>
          <p:cNvSpPr>
            <a:spLocks noGrp="1"/>
          </p:cNvSpPr>
          <p:nvPr>
            <p:ph type="sldNum" sz="quarter" idx="12"/>
          </p:nvPr>
        </p:nvSpPr>
        <p:spPr/>
        <p:txBody>
          <a:bodyPr/>
          <a:lstStyle/>
          <a:p>
            <a:fld id="{D8F7052E-6653-4917-A34D-F57A760E32EA}" type="slidenum">
              <a:rPr lang="en-IN" smtClean="0"/>
              <a:t>4</a:t>
            </a:fld>
            <a:endParaRPr lang="en-IN" dirty="0"/>
          </a:p>
        </p:txBody>
      </p:sp>
    </p:spTree>
    <p:extLst>
      <p:ext uri="{BB962C8B-B14F-4D97-AF65-F5344CB8AC3E}">
        <p14:creationId xmlns:p14="http://schemas.microsoft.com/office/powerpoint/2010/main" val="307294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9805-8CCF-5E4C-F71E-E94690E5824C}"/>
              </a:ext>
            </a:extLst>
          </p:cNvPr>
          <p:cNvSpPr>
            <a:spLocks noGrp="1"/>
          </p:cNvSpPr>
          <p:nvPr>
            <p:ph type="title"/>
          </p:nvPr>
        </p:nvSpPr>
        <p:spPr/>
        <p:txBody>
          <a:bodyPr/>
          <a:lstStyle/>
          <a:p>
            <a:r>
              <a:rPr lang="en-US" dirty="0">
                <a:solidFill>
                  <a:srgbClr val="C00000"/>
                </a:solidFill>
                <a:latin typeface="Times New Roman"/>
                <a:cs typeface="Times New Roman"/>
              </a:rPr>
              <a:t>Symptoms </a:t>
            </a:r>
            <a:r>
              <a:rPr lang="en-IN" dirty="0">
                <a:solidFill>
                  <a:srgbClr val="C00000"/>
                </a:solidFill>
                <a:latin typeface="Times New Roman"/>
                <a:cs typeface="Times New Roman"/>
              </a:rPr>
              <a:t>of  glioma</a:t>
            </a:r>
            <a:endParaRPr lang="en-IN" dirty="0"/>
          </a:p>
        </p:txBody>
      </p:sp>
      <p:sp>
        <p:nvSpPr>
          <p:cNvPr id="3" name="Content Placeholder 2">
            <a:extLst>
              <a:ext uri="{FF2B5EF4-FFF2-40B4-BE49-F238E27FC236}">
                <a16:creationId xmlns:a16="http://schemas.microsoft.com/office/drawing/2014/main" id="{9AE5EE33-3F0A-5C67-1988-EA651DB35664}"/>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Changes in your vision or sudden vision loss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Difficulty walking or keeping your balance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Dizziness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Headaches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Nausea and vomiting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New depression or anxiety</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Personality changes or sudden mood swings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Seizures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Trouble speaking or communicating (aphasia)</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Trouble thinking, learning or remembering (cognitive problems)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Weakness or numbness on one side of your body (hemiparesis)</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1800" dirty="0"/>
          </a:p>
        </p:txBody>
      </p:sp>
      <p:pic>
        <p:nvPicPr>
          <p:cNvPr id="4" name="Picture 3">
            <a:extLst>
              <a:ext uri="{FF2B5EF4-FFF2-40B4-BE49-F238E27FC236}">
                <a16:creationId xmlns:a16="http://schemas.microsoft.com/office/drawing/2014/main" id="{BB8E74BF-D3D7-93D5-6432-5A4F34513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536" y="1845734"/>
            <a:ext cx="4476627" cy="4476627"/>
          </a:xfrm>
          <a:prstGeom prst="rect">
            <a:avLst/>
          </a:prstGeom>
        </p:spPr>
      </p:pic>
      <p:sp>
        <p:nvSpPr>
          <p:cNvPr id="5" name="Slide Number Placeholder 4">
            <a:extLst>
              <a:ext uri="{FF2B5EF4-FFF2-40B4-BE49-F238E27FC236}">
                <a16:creationId xmlns:a16="http://schemas.microsoft.com/office/drawing/2014/main" id="{D1B1D9F0-7E64-FA47-DCF7-2920A576354D}"/>
              </a:ext>
            </a:extLst>
          </p:cNvPr>
          <p:cNvSpPr>
            <a:spLocks noGrp="1"/>
          </p:cNvSpPr>
          <p:nvPr>
            <p:ph type="sldNum" sz="quarter" idx="12"/>
          </p:nvPr>
        </p:nvSpPr>
        <p:spPr/>
        <p:txBody>
          <a:bodyPr/>
          <a:lstStyle/>
          <a:p>
            <a:fld id="{D8F7052E-6653-4917-A34D-F57A760E32EA}" type="slidenum">
              <a:rPr lang="en-IN" smtClean="0"/>
              <a:t>5</a:t>
            </a:fld>
            <a:endParaRPr lang="en-IN" dirty="0"/>
          </a:p>
        </p:txBody>
      </p:sp>
    </p:spTree>
    <p:extLst>
      <p:ext uri="{BB962C8B-B14F-4D97-AF65-F5344CB8AC3E}">
        <p14:creationId xmlns:p14="http://schemas.microsoft.com/office/powerpoint/2010/main" val="3169958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EB46-87CA-1D4B-173E-5EFFE5C32202}"/>
              </a:ext>
            </a:extLst>
          </p:cNvPr>
          <p:cNvSpPr>
            <a:spLocks noGrp="1"/>
          </p:cNvSpPr>
          <p:nvPr>
            <p:ph type="title"/>
          </p:nvPr>
        </p:nvSpPr>
        <p:spPr/>
        <p:txBody>
          <a:bodyPr/>
          <a:lstStyle/>
          <a:p>
            <a:r>
              <a:rPr lang="en-IN" dirty="0">
                <a:solidFill>
                  <a:srgbClr val="C00000"/>
                </a:solidFill>
                <a:latin typeface="Times New Roman" panose="02020603050405020304" pitchFamily="18" charset="0"/>
                <a:cs typeface="Times New Roman" panose="02020603050405020304" pitchFamily="18" charset="0"/>
              </a:rPr>
              <a:t>Identification and Challenges of Glioma</a:t>
            </a:r>
            <a:endParaRPr lang="en-IN" dirty="0"/>
          </a:p>
        </p:txBody>
      </p:sp>
      <p:sp>
        <p:nvSpPr>
          <p:cNvPr id="5" name="Rectangle 2">
            <a:extLst>
              <a:ext uri="{FF2B5EF4-FFF2-40B4-BE49-F238E27FC236}">
                <a16:creationId xmlns:a16="http://schemas.microsoft.com/office/drawing/2014/main" id="{5EA699C6-6C89-5ADF-C70B-37006351DD7E}"/>
              </a:ext>
            </a:extLst>
          </p:cNvPr>
          <p:cNvSpPr>
            <a:spLocks noGrp="1" noChangeArrowheads="1"/>
          </p:cNvSpPr>
          <p:nvPr>
            <p:ph idx="1"/>
          </p:nvPr>
        </p:nvSpPr>
        <p:spPr bwMode="auto">
          <a:xfrm>
            <a:off x="838200" y="2789964"/>
            <a:ext cx="525780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Glioma is primarily identified using Magnetic Resonance Imaging (MRI) scans.</a:t>
            </a:r>
          </a:p>
          <a:p>
            <a:pPr eaLnBrk="0" fontAlgn="base" hangingPunct="0">
              <a:lnSpc>
                <a:spcPct val="150000"/>
              </a:lnSpc>
              <a:spcBef>
                <a:spcPct val="0"/>
              </a:spcBef>
              <a:spcAft>
                <a:spcPct val="0"/>
              </a:spcAft>
              <a:buClrTx/>
              <a:buSzTx/>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MRI provides detailed images of brain tissues and tumor structures.</a:t>
            </a:r>
          </a:p>
          <a:p>
            <a:pPr eaLnBrk="0" fontAlgn="base"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 MRI modalities such as T1, T2, FLAIR, and T1CE help analyze tumor characteristics.</a:t>
            </a:r>
          </a:p>
          <a:p>
            <a:pPr eaLnBrk="0" fontAlgn="base" hangingPunct="0">
              <a:lnSpc>
                <a:spcPct val="150000"/>
              </a:lnSpc>
              <a:spcBef>
                <a:spcPct val="0"/>
              </a:spcBef>
              <a:spcAft>
                <a:spcPct val="0"/>
              </a:spcAft>
              <a:buClrTx/>
              <a:buSzTx/>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Deep learning models can automatically detect and segment tumor regions from MRI images.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958677D-7DEF-779D-EA72-FFED2BD7C681}"/>
              </a:ext>
            </a:extLst>
          </p:cNvPr>
          <p:cNvSpPr/>
          <p:nvPr/>
        </p:nvSpPr>
        <p:spPr>
          <a:xfrm>
            <a:off x="838200" y="1856637"/>
            <a:ext cx="5257800" cy="7673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600" dirty="0">
                <a:solidFill>
                  <a:srgbClr val="C00000"/>
                </a:solidFill>
                <a:latin typeface="Times New Roman" panose="02020603050405020304" pitchFamily="18" charset="0"/>
                <a:cs typeface="Times New Roman" panose="02020603050405020304" pitchFamily="18" charset="0"/>
              </a:rPr>
              <a:t>Identification</a:t>
            </a:r>
            <a:endParaRPr lang="en-IN" sz="3600" dirty="0">
              <a:solidFill>
                <a:srgbClr val="C00000"/>
              </a:solidFill>
            </a:endParaRPr>
          </a:p>
        </p:txBody>
      </p:sp>
      <p:sp>
        <p:nvSpPr>
          <p:cNvPr id="7" name="Rectangle 6">
            <a:extLst>
              <a:ext uri="{FF2B5EF4-FFF2-40B4-BE49-F238E27FC236}">
                <a16:creationId xmlns:a16="http://schemas.microsoft.com/office/drawing/2014/main" id="{4D801FAB-8023-C6E1-B3A3-6AF03F7FE3D3}"/>
              </a:ext>
            </a:extLst>
          </p:cNvPr>
          <p:cNvSpPr/>
          <p:nvPr/>
        </p:nvSpPr>
        <p:spPr>
          <a:xfrm>
            <a:off x="6096000" y="1856637"/>
            <a:ext cx="5257800" cy="7673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600" dirty="0">
                <a:solidFill>
                  <a:srgbClr val="C00000"/>
                </a:solidFill>
                <a:latin typeface="Times New Roman" panose="02020603050405020304" pitchFamily="18" charset="0"/>
                <a:cs typeface="Times New Roman" panose="02020603050405020304" pitchFamily="18" charset="0"/>
              </a:rPr>
              <a:t>Challenges</a:t>
            </a:r>
            <a:endParaRPr lang="en-IN" sz="3600" dirty="0">
              <a:solidFill>
                <a:srgbClr val="C00000"/>
              </a:solidFill>
            </a:endParaRPr>
          </a:p>
        </p:txBody>
      </p:sp>
      <p:sp>
        <p:nvSpPr>
          <p:cNvPr id="8" name="Rectangle 2">
            <a:extLst>
              <a:ext uri="{FF2B5EF4-FFF2-40B4-BE49-F238E27FC236}">
                <a16:creationId xmlns:a16="http://schemas.microsoft.com/office/drawing/2014/main" id="{9D2D7049-1C73-C6E3-21BA-F71F00A60C29}"/>
              </a:ext>
            </a:extLst>
          </p:cNvPr>
          <p:cNvSpPr txBox="1">
            <a:spLocks noChangeArrowheads="1"/>
          </p:cNvSpPr>
          <p:nvPr/>
        </p:nvSpPr>
        <p:spPr bwMode="auto">
          <a:xfrm>
            <a:off x="6096000" y="2831764"/>
            <a:ext cx="525780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Tumor boundaries are irregular and difficult to distinguish from healthy tissues.</a:t>
            </a:r>
          </a:p>
          <a:p>
            <a:pPr mar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MRI may vary in resolution and image quality.</a:t>
            </a:r>
          </a:p>
          <a:p>
            <a:pPr mar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Manual analysis is time consuming and depends on radiologist expertise.</a:t>
            </a:r>
          </a:p>
          <a:p>
            <a:pPr marL="0" indent="0" eaLnBrk="0" fontAlgn="base" hangingPunct="0">
              <a:lnSpc>
                <a:spcPct val="15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Tumors may appear in different sizes, shapes and locations.</a:t>
            </a:r>
          </a:p>
          <a:p>
            <a:pPr marL="0" indent="0" eaLnBrk="0" fontAlgn="base" hangingPunct="0">
              <a:lnSpc>
                <a:spcPct val="15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47208C5-4ED9-F171-9CD2-2EFE26FC7F6C}"/>
              </a:ext>
            </a:extLst>
          </p:cNvPr>
          <p:cNvSpPr>
            <a:spLocks noGrp="1"/>
          </p:cNvSpPr>
          <p:nvPr>
            <p:ph type="sldNum" sz="quarter" idx="12"/>
          </p:nvPr>
        </p:nvSpPr>
        <p:spPr/>
        <p:txBody>
          <a:bodyPr/>
          <a:lstStyle/>
          <a:p>
            <a:fld id="{D8F7052E-6653-4917-A34D-F57A760E32EA}" type="slidenum">
              <a:rPr lang="en-IN" smtClean="0"/>
              <a:t>6</a:t>
            </a:fld>
            <a:endParaRPr lang="en-IN" dirty="0"/>
          </a:p>
        </p:txBody>
      </p:sp>
    </p:spTree>
    <p:extLst>
      <p:ext uri="{BB962C8B-B14F-4D97-AF65-F5344CB8AC3E}">
        <p14:creationId xmlns:p14="http://schemas.microsoft.com/office/powerpoint/2010/main" val="2008901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CB21-A2D7-D5A1-04D3-5C6C91261847}"/>
              </a:ext>
            </a:extLst>
          </p:cNvPr>
          <p:cNvSpPr>
            <a:spLocks noGrp="1"/>
          </p:cNvSpPr>
          <p:nvPr>
            <p:ph type="title"/>
          </p:nvPr>
        </p:nvSpPr>
        <p:spPr>
          <a:xfrm>
            <a:off x="838200" y="602379"/>
            <a:ext cx="10515600" cy="1129378"/>
          </a:xfrm>
        </p:spPr>
        <p:txBody>
          <a:bodyPr/>
          <a:lstStyle/>
          <a:p>
            <a:r>
              <a:rPr lang="en-US" dirty="0">
                <a:solidFill>
                  <a:srgbClr val="C00000"/>
                </a:solidFill>
                <a:latin typeface="Times New Roman"/>
                <a:cs typeface="Times New Roman"/>
              </a:rPr>
              <a:t>Existing System</a:t>
            </a:r>
            <a:endParaRPr lang="en-IN" dirty="0"/>
          </a:p>
        </p:txBody>
      </p:sp>
      <p:sp>
        <p:nvSpPr>
          <p:cNvPr id="3" name="Content Placeholder 2">
            <a:extLst>
              <a:ext uri="{FF2B5EF4-FFF2-40B4-BE49-F238E27FC236}">
                <a16:creationId xmlns:a16="http://schemas.microsoft.com/office/drawing/2014/main" id="{20243B69-481C-4BE5-3D07-30C6DEE06DC0}"/>
              </a:ext>
            </a:extLst>
          </p:cNvPr>
          <p:cNvSpPr>
            <a:spLocks noGrp="1"/>
          </p:cNvSpPr>
          <p:nvPr>
            <p:ph idx="1"/>
          </p:nvPr>
        </p:nvSpPr>
        <p:spPr>
          <a:xfrm>
            <a:off x="838200" y="1731757"/>
            <a:ext cx="10515600" cy="4574305"/>
          </a:xfrm>
        </p:spPr>
        <p:txBody>
          <a:bodyPr>
            <a:noAutofit/>
          </a:bodyPr>
          <a:lstStyle/>
          <a:p>
            <a:pPr marL="288000">
              <a:lnSpc>
                <a:spcPct val="100000"/>
              </a:lnSpc>
              <a:spcAft>
                <a:spcPts val="1000"/>
              </a:spcAft>
            </a:pPr>
            <a:r>
              <a:rPr lang="en-US" sz="2000" b="1" dirty="0">
                <a:latin typeface="Times New Roman" panose="02020603050405020304" pitchFamily="18" charset="0"/>
                <a:cs typeface="Times New Roman" panose="02020603050405020304" pitchFamily="18" charset="0"/>
              </a:rPr>
              <a:t>MRI Image-Based Analysis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MRI scans are commonly used to detect brain tumors by analyzing brain tissue abnormalities. Radiologists manually examine MRI images to identify tumor regions.</a:t>
            </a:r>
          </a:p>
          <a:p>
            <a:pPr marL="288000">
              <a:lnSpc>
                <a:spcPct val="100000"/>
              </a:lnSpc>
              <a:spcAft>
                <a:spcPts val="1000"/>
              </a:spcAft>
            </a:pPr>
            <a:r>
              <a:rPr lang="en-US" sz="2000" b="1" dirty="0">
                <a:latin typeface="Times New Roman" panose="02020603050405020304" pitchFamily="18" charset="0"/>
                <a:cs typeface="Times New Roman" panose="02020603050405020304" pitchFamily="18" charset="0"/>
              </a:rPr>
              <a:t>CNN and Transfer Learning Models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Deep learning models like CNN, VGG, and ResNet are used for automatic tumor detection. These models extract features from MRI images to classify tumor presence.</a:t>
            </a:r>
          </a:p>
          <a:p>
            <a:pPr marL="288000">
              <a:lnSpc>
                <a:spcPct val="100000"/>
              </a:lnSpc>
              <a:spcAft>
                <a:spcPts val="1000"/>
              </a:spcAft>
            </a:pPr>
            <a:r>
              <a:rPr lang="en-US" sz="2000" b="1" dirty="0">
                <a:latin typeface="Times New Roman" panose="02020603050405020304" pitchFamily="18" charset="0"/>
                <a:cs typeface="Times New Roman" panose="02020603050405020304" pitchFamily="18" charset="0"/>
              </a:rPr>
              <a:t>Segmentation-Based Architectures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Models such as U-Net are used to segment tumor regions in MRI scans. They help identify the exact location and boundaries of tumors.</a:t>
            </a:r>
          </a:p>
          <a:p>
            <a:pPr marL="288000">
              <a:lnSpc>
                <a:spcPct val="100000"/>
              </a:lnSpc>
              <a:spcAft>
                <a:spcPts val="1000"/>
              </a:spcAft>
            </a:pPr>
            <a:r>
              <a:rPr lang="en-US" sz="2000" b="1" dirty="0">
                <a:latin typeface="Times New Roman" panose="02020603050405020304" pitchFamily="18" charset="0"/>
                <a:cs typeface="Times New Roman" panose="02020603050405020304" pitchFamily="18" charset="0"/>
              </a:rPr>
              <a:t>Explainability-Based Models</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Techniques like Grad-CAM and LIME help explain model predictions. They highlight important regions of MRI images used for tumor detection.</a:t>
            </a:r>
          </a:p>
        </p:txBody>
      </p:sp>
      <p:sp>
        <p:nvSpPr>
          <p:cNvPr id="4" name="Slide Number Placeholder 3">
            <a:extLst>
              <a:ext uri="{FF2B5EF4-FFF2-40B4-BE49-F238E27FC236}">
                <a16:creationId xmlns:a16="http://schemas.microsoft.com/office/drawing/2014/main" id="{B01BB12F-6206-EDD9-00A2-8586544B095F}"/>
              </a:ext>
            </a:extLst>
          </p:cNvPr>
          <p:cNvSpPr>
            <a:spLocks noGrp="1"/>
          </p:cNvSpPr>
          <p:nvPr>
            <p:ph type="sldNum" sz="quarter" idx="12"/>
          </p:nvPr>
        </p:nvSpPr>
        <p:spPr/>
        <p:txBody>
          <a:bodyPr/>
          <a:lstStyle/>
          <a:p>
            <a:fld id="{D8F7052E-6653-4917-A34D-F57A760E32EA}" type="slidenum">
              <a:rPr lang="en-IN" smtClean="0"/>
              <a:t>7</a:t>
            </a:fld>
            <a:endParaRPr lang="en-IN" dirty="0"/>
          </a:p>
        </p:txBody>
      </p:sp>
    </p:spTree>
    <p:extLst>
      <p:ext uri="{BB962C8B-B14F-4D97-AF65-F5344CB8AC3E}">
        <p14:creationId xmlns:p14="http://schemas.microsoft.com/office/powerpoint/2010/main" val="2135885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3E4E-F5EC-10E0-836E-1D42A1670E19}"/>
              </a:ext>
            </a:extLst>
          </p:cNvPr>
          <p:cNvSpPr>
            <a:spLocks noGrp="1"/>
          </p:cNvSpPr>
          <p:nvPr>
            <p:ph type="title"/>
          </p:nvPr>
        </p:nvSpPr>
        <p:spPr>
          <a:xfrm>
            <a:off x="838200" y="689590"/>
            <a:ext cx="10515600" cy="1021223"/>
          </a:xfrm>
        </p:spPr>
        <p:txBody>
          <a:bodyPr/>
          <a:lstStyle/>
          <a:p>
            <a:r>
              <a:rPr lang="en-US" dirty="0">
                <a:solidFill>
                  <a:srgbClr val="C00000"/>
                </a:solidFill>
                <a:latin typeface="Times New Roman"/>
                <a:cs typeface="Times New Roman"/>
              </a:rPr>
              <a:t>Limitations</a:t>
            </a:r>
            <a:endParaRPr lang="en-IN" dirty="0"/>
          </a:p>
        </p:txBody>
      </p:sp>
      <p:sp>
        <p:nvSpPr>
          <p:cNvPr id="3" name="Content Placeholder 2">
            <a:extLst>
              <a:ext uri="{FF2B5EF4-FFF2-40B4-BE49-F238E27FC236}">
                <a16:creationId xmlns:a16="http://schemas.microsoft.com/office/drawing/2014/main" id="{6807C0FE-D383-DD54-6D99-2D2065348C25}"/>
              </a:ext>
            </a:extLst>
          </p:cNvPr>
          <p:cNvSpPr>
            <a:spLocks noGrp="1"/>
          </p:cNvSpPr>
          <p:nvPr>
            <p:ph idx="1"/>
          </p:nvPr>
        </p:nvSpPr>
        <p:spPr>
          <a:xfrm>
            <a:off x="838200" y="1779639"/>
            <a:ext cx="10515600" cy="4603802"/>
          </a:xfrm>
        </p:spPr>
        <p:txBody>
          <a:bodyPr>
            <a:normAutofit fontScale="92500" lnSpcReduction="10000"/>
          </a:bodyPr>
          <a:lstStyle/>
          <a:p>
            <a:pPr>
              <a:lnSpc>
                <a:spcPct val="150000"/>
              </a:lnSpc>
            </a:pPr>
            <a:r>
              <a:rPr lang="en-US" sz="1800" b="1" dirty="0">
                <a:latin typeface="Times New Roman" panose="02020603050405020304" pitchFamily="18" charset="0"/>
                <a:cs typeface="Times New Roman" panose="02020603050405020304" pitchFamily="18" charset="0"/>
              </a:rPr>
              <a:t>Dependence on High-Resolution MRI</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Most models require high-quality MRI images for accurate tumor detection.</a:t>
            </a:r>
          </a:p>
          <a:p>
            <a:pPr>
              <a:lnSpc>
                <a:spcPct val="150000"/>
              </a:lnSpc>
            </a:pPr>
            <a:r>
              <a:rPr lang="en-US" sz="1800" b="1" dirty="0">
                <a:latin typeface="Times New Roman" panose="02020603050405020304" pitchFamily="18" charset="0"/>
                <a:cs typeface="Times New Roman" panose="02020603050405020304" pitchFamily="18" charset="0"/>
              </a:rPr>
              <a:t>High Computational Cost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Deep learning models like CNN and ResNet require powerful GPUs and long training time.</a:t>
            </a:r>
          </a:p>
          <a:p>
            <a:pPr>
              <a:lnSpc>
                <a:spcPct val="150000"/>
              </a:lnSpc>
            </a:pPr>
            <a:r>
              <a:rPr lang="en-US" sz="1800" b="1" dirty="0">
                <a:latin typeface="Times New Roman" panose="02020603050405020304" pitchFamily="18" charset="0"/>
                <a:cs typeface="Times New Roman" panose="02020603050405020304" pitchFamily="18" charset="0"/>
              </a:rPr>
              <a:t>Lack of Real-Time Detection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Many existing systems are slow and not suitable for real-time clinical use.</a:t>
            </a:r>
          </a:p>
          <a:p>
            <a:pPr>
              <a:lnSpc>
                <a:spcPct val="150000"/>
              </a:lnSpc>
            </a:pPr>
            <a:r>
              <a:rPr lang="en-US" sz="1800" b="1" dirty="0">
                <a:latin typeface="Times New Roman" panose="02020603050405020304" pitchFamily="18" charset="0"/>
                <a:cs typeface="Times New Roman" panose="02020603050405020304" pitchFamily="18" charset="0"/>
              </a:rPr>
              <a:t>Poor Performance on Low-Quality Images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Noise, low resolution, or variations in MRI scans can reduce model accuracy.</a:t>
            </a:r>
          </a:p>
          <a:p>
            <a:pPr>
              <a:lnSpc>
                <a:spcPct val="150000"/>
              </a:lnSpc>
            </a:pPr>
            <a:r>
              <a:rPr lang="en-US" sz="1800" b="1" dirty="0">
                <a:latin typeface="Times New Roman" panose="02020603050405020304" pitchFamily="18" charset="0"/>
                <a:cs typeface="Times New Roman" panose="02020603050405020304" pitchFamily="18" charset="0"/>
              </a:rPr>
              <a:t>Limited Multi-Task Capability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Some systems perform only classification and do not include tumor segmentation.</a:t>
            </a:r>
          </a:p>
          <a:p>
            <a:pPr>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8E83868-8D62-F7D9-55BE-C3368B045FE6}"/>
              </a:ext>
            </a:extLst>
          </p:cNvPr>
          <p:cNvSpPr>
            <a:spLocks noGrp="1"/>
          </p:cNvSpPr>
          <p:nvPr>
            <p:ph type="sldNum" sz="quarter" idx="12"/>
          </p:nvPr>
        </p:nvSpPr>
        <p:spPr/>
        <p:txBody>
          <a:bodyPr/>
          <a:lstStyle/>
          <a:p>
            <a:fld id="{D8F7052E-6653-4917-A34D-F57A760E32EA}" type="slidenum">
              <a:rPr lang="en-IN" smtClean="0"/>
              <a:t>8</a:t>
            </a:fld>
            <a:endParaRPr lang="en-IN" dirty="0"/>
          </a:p>
        </p:txBody>
      </p:sp>
    </p:spTree>
    <p:extLst>
      <p:ext uri="{BB962C8B-B14F-4D97-AF65-F5344CB8AC3E}">
        <p14:creationId xmlns:p14="http://schemas.microsoft.com/office/powerpoint/2010/main" val="357689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9DA2-3C38-7817-FBB0-3DB240A21FB1}"/>
              </a:ext>
            </a:extLst>
          </p:cNvPr>
          <p:cNvSpPr>
            <a:spLocks noGrp="1"/>
          </p:cNvSpPr>
          <p:nvPr>
            <p:ph type="title"/>
          </p:nvPr>
        </p:nvSpPr>
        <p:spPr>
          <a:xfrm>
            <a:off x="838200" y="681037"/>
            <a:ext cx="10515600" cy="1080217"/>
          </a:xfrm>
        </p:spPr>
        <p:txBody>
          <a:bodyPr/>
          <a:lstStyle/>
          <a:p>
            <a:r>
              <a:rPr lang="en-US" dirty="0">
                <a:solidFill>
                  <a:srgbClr val="C00000"/>
                </a:solidFill>
                <a:latin typeface="Times New Roman"/>
                <a:cs typeface="Times New Roman"/>
              </a:rPr>
              <a:t>Literature Survey</a:t>
            </a:r>
            <a:endParaRPr lang="en-IN" dirty="0"/>
          </a:p>
        </p:txBody>
      </p:sp>
      <p:sp>
        <p:nvSpPr>
          <p:cNvPr id="3" name="Content Placeholder 2">
            <a:extLst>
              <a:ext uri="{FF2B5EF4-FFF2-40B4-BE49-F238E27FC236}">
                <a16:creationId xmlns:a16="http://schemas.microsoft.com/office/drawing/2014/main" id="{22F5C98F-8EAA-3ABC-0005-2B885C418063}"/>
              </a:ext>
            </a:extLst>
          </p:cNvPr>
          <p:cNvSpPr>
            <a:spLocks noGrp="1"/>
          </p:cNvSpPr>
          <p:nvPr>
            <p:ph idx="1"/>
          </p:nvPr>
        </p:nvSpPr>
        <p:spPr>
          <a:xfrm>
            <a:off x="838200" y="1651819"/>
            <a:ext cx="10515600" cy="4525144"/>
          </a:xfrm>
        </p:spPr>
        <p:txBody>
          <a:bodyPr>
            <a:normAutofit lnSpcReduction="10000"/>
          </a:bodyPr>
          <a:lstStyle/>
          <a:p>
            <a:pPr marL="514350" indent="-51435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Glioma/glioblastoma detection in brain MRI using pre-trained deep-learning scheme:</a:t>
            </a:r>
          </a:p>
          <a:p>
            <a:pPr lvl="1">
              <a:lnSpc>
                <a:spcPct val="150000"/>
              </a:lnSpc>
            </a:pPr>
            <a:r>
              <a:rPr lang="en-US" sz="2000" b="1" dirty="0">
                <a:latin typeface="Times New Roman" panose="02020603050405020304" pitchFamily="18" charset="0"/>
                <a:cs typeface="Times New Roman" panose="02020603050405020304" pitchFamily="18" charset="0"/>
              </a:rPr>
              <a:t>Dataset: </a:t>
            </a:r>
            <a:r>
              <a:rPr lang="it-IT" dirty="0"/>
              <a:t>Cancer Imaging Archive (TCIA) dataset</a:t>
            </a:r>
            <a:endParaRPr lang="en-US" sz="2000" b="1" dirty="0">
              <a:latin typeface="Times New Roman" panose="02020603050405020304" pitchFamily="18" charset="0"/>
              <a:cs typeface="Times New Roman" panose="02020603050405020304" pitchFamily="18" charset="0"/>
            </a:endParaRPr>
          </a:p>
          <a:p>
            <a:pPr lvl="1">
              <a:lnSpc>
                <a:spcPct val="150000"/>
              </a:lnSpc>
            </a:pPr>
            <a:r>
              <a:rPr lang="en-US" sz="20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VGG-16 with Decision Tree</a:t>
            </a:r>
            <a:endParaRPr lang="en-IN" sz="2000"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Parallel deep CNN structure for glioma detection and classification via brain MRI images</a:t>
            </a:r>
          </a:p>
          <a:p>
            <a:pPr lvl="1">
              <a:lnSpc>
                <a:spcPct val="150000"/>
              </a:lnSpc>
            </a:pPr>
            <a:r>
              <a:rPr lang="en-US" sz="2000" b="1" dirty="0">
                <a:latin typeface="Times New Roman" panose="02020603050405020304" pitchFamily="18" charset="0"/>
                <a:cs typeface="Times New Roman" panose="02020603050405020304" pitchFamily="18" charset="0"/>
              </a:rPr>
              <a:t>Dataset: </a:t>
            </a:r>
            <a:r>
              <a:rPr lang="en-US" sz="2000" dirty="0">
                <a:latin typeface="Times New Roman" panose="02020603050405020304" pitchFamily="18" charset="0"/>
                <a:cs typeface="Times New Roman" panose="02020603050405020304" pitchFamily="18" charset="0"/>
              </a:rPr>
              <a:t>BraTS 2017</a:t>
            </a:r>
            <a:endParaRPr lang="en-US" sz="2000" b="1" dirty="0">
              <a:latin typeface="Times New Roman" panose="02020603050405020304" pitchFamily="18" charset="0"/>
              <a:cs typeface="Times New Roman" panose="02020603050405020304" pitchFamily="18" charset="0"/>
            </a:endParaRPr>
          </a:p>
          <a:p>
            <a:pPr lvl="1">
              <a:lnSpc>
                <a:spcPct val="150000"/>
              </a:lnSpc>
            </a:pPr>
            <a:r>
              <a:rPr lang="en-US" sz="20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T</a:t>
            </a:r>
            <a:r>
              <a:rPr lang="en-US" dirty="0"/>
              <a:t>wo parallel deep convolutional neural networks (PDCNNs)</a:t>
            </a:r>
            <a:endParaRPr lang="en-IN" sz="2000" b="1"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2400" b="1"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52650F0-256C-19C1-2815-CCBCB82A4261}"/>
              </a:ext>
            </a:extLst>
          </p:cNvPr>
          <p:cNvSpPr>
            <a:spLocks noGrp="1"/>
          </p:cNvSpPr>
          <p:nvPr>
            <p:ph type="sldNum" sz="quarter" idx="12"/>
          </p:nvPr>
        </p:nvSpPr>
        <p:spPr/>
        <p:txBody>
          <a:bodyPr/>
          <a:lstStyle/>
          <a:p>
            <a:fld id="{D8F7052E-6653-4917-A34D-F57A760E32EA}" type="slidenum">
              <a:rPr lang="en-IN" smtClean="0"/>
              <a:t>9</a:t>
            </a:fld>
            <a:endParaRPr lang="en-IN" dirty="0"/>
          </a:p>
        </p:txBody>
      </p:sp>
    </p:spTree>
    <p:extLst>
      <p:ext uri="{BB962C8B-B14F-4D97-AF65-F5344CB8AC3E}">
        <p14:creationId xmlns:p14="http://schemas.microsoft.com/office/powerpoint/2010/main" val="1999537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3A5B-6505-713F-B549-D2ADE784CB70}"/>
              </a:ext>
            </a:extLst>
          </p:cNvPr>
          <p:cNvSpPr>
            <a:spLocks noGrp="1"/>
          </p:cNvSpPr>
          <p:nvPr>
            <p:ph type="title"/>
          </p:nvPr>
        </p:nvSpPr>
        <p:spPr>
          <a:xfrm>
            <a:off x="838199" y="365125"/>
            <a:ext cx="10515599" cy="1168707"/>
          </a:xfrm>
        </p:spPr>
        <p:txBody>
          <a:bodyPr/>
          <a:lstStyle/>
          <a:p>
            <a:r>
              <a:rPr lang="en-US" dirty="0">
                <a:solidFill>
                  <a:srgbClr val="C00000"/>
                </a:solidFill>
                <a:cs typeface="Times New Roman"/>
              </a:rPr>
              <a:t>Contd..</a:t>
            </a:r>
            <a:endParaRPr lang="en-IN" dirty="0"/>
          </a:p>
        </p:txBody>
      </p:sp>
      <p:sp>
        <p:nvSpPr>
          <p:cNvPr id="3" name="Content Placeholder 2">
            <a:extLst>
              <a:ext uri="{FF2B5EF4-FFF2-40B4-BE49-F238E27FC236}">
                <a16:creationId xmlns:a16="http://schemas.microsoft.com/office/drawing/2014/main" id="{59A9BAD8-3CBD-26E6-E3CE-F47EBCF092AE}"/>
              </a:ext>
            </a:extLst>
          </p:cNvPr>
          <p:cNvSpPr>
            <a:spLocks noGrp="1"/>
          </p:cNvSpPr>
          <p:nvPr>
            <p:ph idx="1"/>
          </p:nvPr>
        </p:nvSpPr>
        <p:spPr>
          <a:xfrm>
            <a:off x="838200" y="1641987"/>
            <a:ext cx="10515598" cy="4534976"/>
          </a:xfrm>
        </p:spPr>
        <p:txBody>
          <a:bodyPr>
            <a:normAutofit/>
          </a:bodyPr>
          <a:lstStyle/>
          <a:p>
            <a:pPr marL="514350" indent="-514350" algn="just">
              <a:lnSpc>
                <a:spcPct val="150000"/>
              </a:lnSpc>
              <a:buFont typeface="+mj-lt"/>
              <a:buAutoNum type="arabicPeriod" startAt="3"/>
            </a:pPr>
            <a:r>
              <a:rPr lang="en-US" sz="2400" b="1" dirty="0">
                <a:latin typeface="Times New Roman" panose="02020603050405020304" pitchFamily="18" charset="0"/>
                <a:cs typeface="Times New Roman" panose="02020603050405020304" pitchFamily="18" charset="0"/>
              </a:rPr>
              <a:t>A CNN-model to classify low-grade and high-grade glioma from MRI images</a:t>
            </a:r>
          </a:p>
          <a:p>
            <a:pPr lvl="1" algn="just">
              <a:lnSpc>
                <a:spcPct val="150000"/>
              </a:lnSpc>
            </a:pPr>
            <a:r>
              <a:rPr lang="en-US" sz="2000" b="1" dirty="0">
                <a:latin typeface="Times New Roman" panose="02020603050405020304" pitchFamily="18" charset="0"/>
                <a:cs typeface="Times New Roman" panose="02020603050405020304" pitchFamily="18" charset="0"/>
              </a:rPr>
              <a:t>Dataset: </a:t>
            </a:r>
            <a:r>
              <a:rPr lang="en-IN" dirty="0"/>
              <a:t> Brats-2017, Brats-2018, &amp; Brats-2019</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A light weighted CNN model</a:t>
            </a:r>
            <a:endParaRPr lang="en-US" sz="2400" b="1"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startAt="3"/>
            </a:pPr>
            <a:r>
              <a:rPr lang="en-US" sz="2400" b="1" dirty="0">
                <a:latin typeface="Times New Roman" panose="02020603050405020304" pitchFamily="18" charset="0"/>
                <a:cs typeface="Times New Roman" panose="02020603050405020304" pitchFamily="18" charset="0"/>
              </a:rPr>
              <a:t>An attention-guided CNN framework for segmentation and grading of glioma using 3D MRI scans</a:t>
            </a:r>
          </a:p>
          <a:p>
            <a:pPr lvl="1" algn="just">
              <a:lnSpc>
                <a:spcPct val="150000"/>
              </a:lnSpc>
            </a:pPr>
            <a:r>
              <a:rPr lang="en-US" sz="2000" b="1" dirty="0">
                <a:latin typeface="Times New Roman" panose="02020603050405020304" pitchFamily="18" charset="0"/>
                <a:cs typeface="Times New Roman" panose="02020603050405020304" pitchFamily="18" charset="0"/>
              </a:rPr>
              <a:t>Dataset: </a:t>
            </a:r>
            <a:r>
              <a:rPr lang="en-US" sz="2000" dirty="0">
                <a:latin typeface="Times New Roman" panose="02020603050405020304" pitchFamily="18" charset="0"/>
                <a:cs typeface="Times New Roman" panose="02020603050405020304" pitchFamily="18" charset="0"/>
              </a:rPr>
              <a:t>BraTS 2019 </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Attention-guided CNN framework for segmentation </a:t>
            </a:r>
            <a:endParaRPr lang="en-IN" sz="2000" dirty="0">
              <a:latin typeface="Times New Roman" panose="02020603050405020304" pitchFamily="18" charset="0"/>
              <a:cs typeface="Times New Roman" panose="02020603050405020304" pitchFamily="18" charset="0"/>
            </a:endParaRPr>
          </a:p>
          <a:p>
            <a:pPr algn="just"/>
            <a:endParaRPr lang="en-IN" dirty="0"/>
          </a:p>
        </p:txBody>
      </p:sp>
      <p:sp>
        <p:nvSpPr>
          <p:cNvPr id="4" name="Slide Number Placeholder 3">
            <a:extLst>
              <a:ext uri="{FF2B5EF4-FFF2-40B4-BE49-F238E27FC236}">
                <a16:creationId xmlns:a16="http://schemas.microsoft.com/office/drawing/2014/main" id="{94E8F638-85AA-237E-5EA5-E8318F70113E}"/>
              </a:ext>
            </a:extLst>
          </p:cNvPr>
          <p:cNvSpPr>
            <a:spLocks noGrp="1"/>
          </p:cNvSpPr>
          <p:nvPr>
            <p:ph type="sldNum" sz="quarter" idx="12"/>
          </p:nvPr>
        </p:nvSpPr>
        <p:spPr/>
        <p:txBody>
          <a:bodyPr/>
          <a:lstStyle/>
          <a:p>
            <a:fld id="{D8F7052E-6653-4917-A34D-F57A760E32EA}" type="slidenum">
              <a:rPr lang="en-IN" smtClean="0"/>
              <a:t>10</a:t>
            </a:fld>
            <a:endParaRPr lang="en-IN" dirty="0"/>
          </a:p>
        </p:txBody>
      </p:sp>
    </p:spTree>
    <p:extLst>
      <p:ext uri="{BB962C8B-B14F-4D97-AF65-F5344CB8AC3E}">
        <p14:creationId xmlns:p14="http://schemas.microsoft.com/office/powerpoint/2010/main" val="153436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E164-8BB5-C7AC-0F05-535701ED83AD}"/>
              </a:ext>
            </a:extLst>
          </p:cNvPr>
          <p:cNvSpPr>
            <a:spLocks noGrp="1"/>
          </p:cNvSpPr>
          <p:nvPr>
            <p:ph type="title"/>
          </p:nvPr>
        </p:nvSpPr>
        <p:spPr/>
        <p:txBody>
          <a:bodyPr>
            <a:normAutofit/>
          </a:bodyPr>
          <a:lstStyle/>
          <a:p>
            <a:r>
              <a:rPr lang="en-US" dirty="0">
                <a:solidFill>
                  <a:srgbClr val="C00000"/>
                </a:solidFill>
                <a:cs typeface="Times New Roman"/>
              </a:rPr>
              <a:t>Proposed System</a:t>
            </a:r>
            <a:endParaRPr lang="en-IN" dirty="0"/>
          </a:p>
        </p:txBody>
      </p:sp>
      <p:sp>
        <p:nvSpPr>
          <p:cNvPr id="3" name="Content Placeholder 2">
            <a:extLst>
              <a:ext uri="{FF2B5EF4-FFF2-40B4-BE49-F238E27FC236}">
                <a16:creationId xmlns:a16="http://schemas.microsoft.com/office/drawing/2014/main" id="{A9B8E83E-49C5-DD52-17B5-7C80F0F753FC}"/>
              </a:ext>
            </a:extLst>
          </p:cNvPr>
          <p:cNvSpPr>
            <a:spLocks noGrp="1"/>
          </p:cNvSpPr>
          <p:nvPr>
            <p:ph idx="1"/>
          </p:nvPr>
        </p:nvSpPr>
        <p:spPr/>
        <p:txBody>
          <a:bodyPr>
            <a:noAutofit/>
          </a:bodyPr>
          <a:lstStyle/>
          <a:p>
            <a:pPr algn="just">
              <a:lnSpc>
                <a:spcPct val="150000"/>
              </a:lnSpc>
            </a:pPr>
            <a:r>
              <a:rPr lang="en-US" sz="1800" dirty="0">
                <a:latin typeface="+mj-lt"/>
              </a:rPr>
              <a:t>To address these limitations, we propose a real-time, resolution-agnostic deep learning framework for glioma detection, segmentation and explainability using multimodal MRI images</a:t>
            </a:r>
          </a:p>
          <a:p>
            <a:pPr algn="just">
              <a:lnSpc>
                <a:spcPct val="150000"/>
              </a:lnSpc>
            </a:pPr>
            <a:r>
              <a:rPr lang="en-US" sz="1800" dirty="0">
                <a:latin typeface="+mj-lt"/>
              </a:rPr>
              <a:t>The system uses a </a:t>
            </a:r>
            <a:r>
              <a:rPr lang="en-US" sz="1800" b="1" dirty="0">
                <a:latin typeface="+mj-lt"/>
              </a:rPr>
              <a:t>shared modified VGG-16 backbone with parallel convolutional modules</a:t>
            </a:r>
            <a:r>
              <a:rPr lang="en-US" sz="1800" dirty="0">
                <a:latin typeface="+mj-lt"/>
              </a:rPr>
              <a:t> for efficient feature extraction. The extracted features branch into three modules:</a:t>
            </a:r>
          </a:p>
          <a:p>
            <a:pPr marL="342900" indent="-342900" algn="just">
              <a:lnSpc>
                <a:spcPct val="150000"/>
              </a:lnSpc>
              <a:buFont typeface="+mj-lt"/>
              <a:buAutoNum type="arabicPeriod"/>
            </a:pPr>
            <a:r>
              <a:rPr lang="en-US" sz="1800" b="1" dirty="0">
                <a:latin typeface="+mj-lt"/>
              </a:rPr>
              <a:t>YOLOv10 head for tumor classification</a:t>
            </a:r>
            <a:r>
              <a:rPr lang="en-US" sz="1800" dirty="0">
                <a:latin typeface="+mj-lt"/>
              </a:rPr>
              <a:t>, designed to improve accuracy on low-resolution MRI images through adaptive feature fusion.</a:t>
            </a:r>
          </a:p>
          <a:p>
            <a:pPr marL="342900" indent="-342900" algn="just">
              <a:lnSpc>
                <a:spcPct val="150000"/>
              </a:lnSpc>
              <a:buFont typeface="+mj-lt"/>
              <a:buAutoNum type="arabicPeriod"/>
            </a:pPr>
            <a:r>
              <a:rPr lang="en-US" sz="1800" b="1" dirty="0">
                <a:latin typeface="+mj-lt"/>
              </a:rPr>
              <a:t>Enhanced HDSA segmentation head</a:t>
            </a:r>
            <a:r>
              <a:rPr lang="en-US" sz="1800" dirty="0">
                <a:latin typeface="+mj-lt"/>
              </a:rPr>
              <a:t>, which performs pixel-level tumor segmentation and incorporates density-based regularization to handle varying MRI resolutions.</a:t>
            </a:r>
          </a:p>
          <a:p>
            <a:pPr algn="just">
              <a:lnSpc>
                <a:spcPct val="150000"/>
              </a:lnSpc>
            </a:pPr>
            <a:endParaRPr lang="en-IN" sz="1800" dirty="0">
              <a:latin typeface="+mj-lt"/>
            </a:endParaRPr>
          </a:p>
        </p:txBody>
      </p:sp>
      <p:sp>
        <p:nvSpPr>
          <p:cNvPr id="4" name="Slide Number Placeholder 3">
            <a:extLst>
              <a:ext uri="{FF2B5EF4-FFF2-40B4-BE49-F238E27FC236}">
                <a16:creationId xmlns:a16="http://schemas.microsoft.com/office/drawing/2014/main" id="{D2B4039F-36E1-6312-9B4A-C4428C977A6D}"/>
              </a:ext>
            </a:extLst>
          </p:cNvPr>
          <p:cNvSpPr>
            <a:spLocks noGrp="1"/>
          </p:cNvSpPr>
          <p:nvPr>
            <p:ph type="sldNum" sz="quarter" idx="12"/>
          </p:nvPr>
        </p:nvSpPr>
        <p:spPr/>
        <p:txBody>
          <a:bodyPr/>
          <a:lstStyle/>
          <a:p>
            <a:fld id="{D8F7052E-6653-4917-A34D-F57A760E32EA}" type="slidenum">
              <a:rPr lang="en-IN" smtClean="0"/>
              <a:t>11</a:t>
            </a:fld>
            <a:endParaRPr lang="en-IN" dirty="0"/>
          </a:p>
        </p:txBody>
      </p:sp>
    </p:spTree>
    <p:extLst>
      <p:ext uri="{BB962C8B-B14F-4D97-AF65-F5344CB8AC3E}">
        <p14:creationId xmlns:p14="http://schemas.microsoft.com/office/powerpoint/2010/main" val="3997828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0075-8EE3-13C1-642E-2930D380478E}"/>
              </a:ext>
            </a:extLst>
          </p:cNvPr>
          <p:cNvSpPr>
            <a:spLocks noGrp="1"/>
          </p:cNvSpPr>
          <p:nvPr>
            <p:ph type="title"/>
          </p:nvPr>
        </p:nvSpPr>
        <p:spPr/>
        <p:txBody>
          <a:bodyPr/>
          <a:lstStyle/>
          <a:p>
            <a:r>
              <a:rPr lang="en-US" sz="4800" kern="1200" spc="-50" baseline="0" dirty="0">
                <a:solidFill>
                  <a:srgbClr val="C00000"/>
                </a:solidFill>
                <a:effectLst/>
                <a:latin typeface="Times New Roman" panose="02020603050405020304" pitchFamily="18" charset="0"/>
                <a:ea typeface="+mj-ea"/>
                <a:cs typeface="Times New Roman" panose="02020603050405020304" pitchFamily="18" charset="0"/>
              </a:rPr>
              <a:t>Contd..</a:t>
            </a:r>
            <a:endParaRPr lang="en-IN" dirty="0"/>
          </a:p>
        </p:txBody>
      </p:sp>
      <p:sp>
        <p:nvSpPr>
          <p:cNvPr id="3" name="Content Placeholder 2">
            <a:extLst>
              <a:ext uri="{FF2B5EF4-FFF2-40B4-BE49-F238E27FC236}">
                <a16:creationId xmlns:a16="http://schemas.microsoft.com/office/drawing/2014/main" id="{0F7D42BF-7B83-6124-0556-D181BAF1DBF2}"/>
              </a:ext>
            </a:extLst>
          </p:cNvPr>
          <p:cNvSpPr>
            <a:spLocks noGrp="1"/>
          </p:cNvSpPr>
          <p:nvPr>
            <p:ph idx="1"/>
          </p:nvPr>
        </p:nvSpPr>
        <p:spPr/>
        <p:txBody>
          <a:bodyPr>
            <a:normAutofit/>
          </a:bodyPr>
          <a:lstStyle/>
          <a:p>
            <a:pPr marL="342900" indent="-342900" algn="just">
              <a:lnSpc>
                <a:spcPct val="150000"/>
              </a:lnSpc>
              <a:buFont typeface="+mj-lt"/>
              <a:buAutoNum type="arabicPeriod" startAt="3"/>
            </a:pPr>
            <a:r>
              <a:rPr lang="en-US" sz="1800" b="1" dirty="0">
                <a:latin typeface="+mj-lt"/>
              </a:rPr>
              <a:t>Grad-CAM++ explainability module</a:t>
            </a:r>
            <a:r>
              <a:rPr lang="en-US" sz="1800" dirty="0">
                <a:latin typeface="+mj-lt"/>
              </a:rPr>
              <a:t>, which highlights important tumor regions to improve interpretability of model predictions.</a:t>
            </a:r>
          </a:p>
          <a:p>
            <a:pPr algn="just">
              <a:lnSpc>
                <a:spcPct val="150000"/>
              </a:lnSpc>
            </a:pPr>
            <a:r>
              <a:rPr lang="en-US" sz="1800" dirty="0">
                <a:latin typeface="+mj-lt"/>
              </a:rPr>
              <a:t>To reduce resolution dependency, we introduce a </a:t>
            </a:r>
            <a:r>
              <a:rPr lang="en-US" sz="1800" b="1" dirty="0">
                <a:latin typeface="+mj-lt"/>
              </a:rPr>
              <a:t>Resolution-Agnostic Loss (RAL)</a:t>
            </a:r>
            <a:r>
              <a:rPr lang="en-US" sz="1800" dirty="0">
                <a:latin typeface="+mj-lt"/>
              </a:rPr>
              <a:t> that dynamically balances classification and segmentation losses based on MRI image quality metrics. Additionally, redundant layers are pruned to reduce computational complexity by </a:t>
            </a:r>
            <a:r>
              <a:rPr lang="en-US" sz="1800" b="1" dirty="0">
                <a:latin typeface="+mj-lt"/>
              </a:rPr>
              <a:t>30–40%</a:t>
            </a:r>
            <a:r>
              <a:rPr lang="en-US" sz="1800" dirty="0">
                <a:latin typeface="+mj-lt"/>
              </a:rPr>
              <a:t>, enabling faster processing.</a:t>
            </a:r>
          </a:p>
          <a:p>
            <a:pPr algn="just">
              <a:lnSpc>
                <a:spcPct val="150000"/>
              </a:lnSpc>
            </a:pPr>
            <a:r>
              <a:rPr lang="en-US" sz="1800" dirty="0">
                <a:latin typeface="+mj-lt"/>
              </a:rPr>
              <a:t>The model is trained on an </a:t>
            </a:r>
            <a:r>
              <a:rPr lang="en-US" sz="1800" b="1" dirty="0">
                <a:latin typeface="+mj-lt"/>
              </a:rPr>
              <a:t>augmented BraTS dataset</a:t>
            </a:r>
            <a:r>
              <a:rPr lang="en-US" sz="1800" dirty="0">
                <a:latin typeface="+mj-lt"/>
              </a:rPr>
              <a:t>, including synthetically generated low-resolution MRI images to improve robustness. This enables </a:t>
            </a:r>
            <a:r>
              <a:rPr lang="en-US" sz="1800" b="1" dirty="0">
                <a:latin typeface="+mj-lt"/>
              </a:rPr>
              <a:t>real-time glioma detection, segmentation, and grading (LGG/HGG)</a:t>
            </a:r>
            <a:r>
              <a:rPr lang="en-US" sz="1800" dirty="0">
                <a:latin typeface="+mj-lt"/>
              </a:rPr>
              <a:t> using feature entropy, improving both accuracy and clinical applicability.</a:t>
            </a:r>
          </a:p>
          <a:p>
            <a:pPr>
              <a:lnSpc>
                <a:spcPct val="150000"/>
              </a:lnSpc>
            </a:pPr>
            <a:endParaRPr lang="en-IN" sz="1800" dirty="0">
              <a:latin typeface="+mj-lt"/>
            </a:endParaRPr>
          </a:p>
        </p:txBody>
      </p:sp>
      <p:sp>
        <p:nvSpPr>
          <p:cNvPr id="4" name="Slide Number Placeholder 3">
            <a:extLst>
              <a:ext uri="{FF2B5EF4-FFF2-40B4-BE49-F238E27FC236}">
                <a16:creationId xmlns:a16="http://schemas.microsoft.com/office/drawing/2014/main" id="{2AB75AF4-6FB4-DE7A-F5CB-F523F9AF79AD}"/>
              </a:ext>
            </a:extLst>
          </p:cNvPr>
          <p:cNvSpPr>
            <a:spLocks noGrp="1"/>
          </p:cNvSpPr>
          <p:nvPr>
            <p:ph type="sldNum" sz="quarter" idx="12"/>
          </p:nvPr>
        </p:nvSpPr>
        <p:spPr/>
        <p:txBody>
          <a:bodyPr/>
          <a:lstStyle/>
          <a:p>
            <a:fld id="{D8F7052E-6653-4917-A34D-F57A760E32EA}" type="slidenum">
              <a:rPr lang="en-IN" smtClean="0"/>
              <a:t>12</a:t>
            </a:fld>
            <a:endParaRPr lang="en-IN" dirty="0"/>
          </a:p>
        </p:txBody>
      </p:sp>
    </p:spTree>
    <p:extLst>
      <p:ext uri="{BB962C8B-B14F-4D97-AF65-F5344CB8AC3E}">
        <p14:creationId xmlns:p14="http://schemas.microsoft.com/office/powerpoint/2010/main" val="2892429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6DAC-2139-4DF5-A262-93283A6719A4}"/>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Model Architecture</a:t>
            </a:r>
            <a:endParaRPr lang="en-IN" dirty="0"/>
          </a:p>
        </p:txBody>
      </p:sp>
      <p:sp>
        <p:nvSpPr>
          <p:cNvPr id="15" name="Rectangle: Rounded Corners 14">
            <a:extLst>
              <a:ext uri="{FF2B5EF4-FFF2-40B4-BE49-F238E27FC236}">
                <a16:creationId xmlns:a16="http://schemas.microsoft.com/office/drawing/2014/main" id="{EA096504-764E-A8B7-5094-9601AC1F14A0}"/>
              </a:ext>
            </a:extLst>
          </p:cNvPr>
          <p:cNvSpPr/>
          <p:nvPr/>
        </p:nvSpPr>
        <p:spPr>
          <a:xfrm>
            <a:off x="752175" y="2441223"/>
            <a:ext cx="1607567" cy="1059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Multimodal MRI</a:t>
            </a:r>
            <a:endParaRPr lang="en-IN" dirty="0">
              <a:solidFill>
                <a:schemeClr val="tx1"/>
              </a:solidFill>
            </a:endParaRPr>
          </a:p>
        </p:txBody>
      </p:sp>
      <p:sp>
        <p:nvSpPr>
          <p:cNvPr id="17" name="Content Placeholder 16">
            <a:extLst>
              <a:ext uri="{FF2B5EF4-FFF2-40B4-BE49-F238E27FC236}">
                <a16:creationId xmlns:a16="http://schemas.microsoft.com/office/drawing/2014/main" id="{04800608-3482-4A03-1A75-8EFEF205521E}"/>
              </a:ext>
            </a:extLst>
          </p:cNvPr>
          <p:cNvSpPr>
            <a:spLocks noGrp="1"/>
          </p:cNvSpPr>
          <p:nvPr>
            <p:ph idx="1"/>
          </p:nvPr>
        </p:nvSpPr>
        <p:spPr>
          <a:xfrm>
            <a:off x="2928402" y="2378541"/>
            <a:ext cx="1867366" cy="11844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Preprocessing </a:t>
            </a:r>
            <a:endParaRPr lang="en-IN" dirty="0">
              <a:solidFill>
                <a:schemeClr val="tx1"/>
              </a:solidFill>
            </a:endParaRPr>
          </a:p>
        </p:txBody>
      </p:sp>
      <p:sp>
        <p:nvSpPr>
          <p:cNvPr id="19" name="Rectangle: Rounded Corners 18">
            <a:extLst>
              <a:ext uri="{FF2B5EF4-FFF2-40B4-BE49-F238E27FC236}">
                <a16:creationId xmlns:a16="http://schemas.microsoft.com/office/drawing/2014/main" id="{E8B846B3-88BC-42C8-13BD-C6768CB30B17}"/>
              </a:ext>
            </a:extLst>
          </p:cNvPr>
          <p:cNvSpPr/>
          <p:nvPr/>
        </p:nvSpPr>
        <p:spPr>
          <a:xfrm>
            <a:off x="7530743" y="2236363"/>
            <a:ext cx="2369715" cy="1450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Modified VGG-16 backbone feature extractor</a:t>
            </a:r>
          </a:p>
        </p:txBody>
      </p:sp>
      <p:sp>
        <p:nvSpPr>
          <p:cNvPr id="20" name="Rectangle: Rounded Corners 19">
            <a:extLst>
              <a:ext uri="{FF2B5EF4-FFF2-40B4-BE49-F238E27FC236}">
                <a16:creationId xmlns:a16="http://schemas.microsoft.com/office/drawing/2014/main" id="{0461389A-9A99-2066-55F0-D31675496BF4}"/>
              </a:ext>
            </a:extLst>
          </p:cNvPr>
          <p:cNvSpPr/>
          <p:nvPr/>
        </p:nvSpPr>
        <p:spPr>
          <a:xfrm>
            <a:off x="10241667" y="2673642"/>
            <a:ext cx="1283109" cy="5874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YOLO V10</a:t>
            </a:r>
            <a:endParaRPr lang="en-IN" dirty="0">
              <a:solidFill>
                <a:schemeClr val="tx1"/>
              </a:solidFill>
            </a:endParaRPr>
          </a:p>
        </p:txBody>
      </p:sp>
      <p:sp>
        <p:nvSpPr>
          <p:cNvPr id="22" name="Rectangle: Rounded Corners 21">
            <a:extLst>
              <a:ext uri="{FF2B5EF4-FFF2-40B4-BE49-F238E27FC236}">
                <a16:creationId xmlns:a16="http://schemas.microsoft.com/office/drawing/2014/main" id="{C7CDF00E-8A1A-B8C4-21AB-E2C188855D43}"/>
              </a:ext>
            </a:extLst>
          </p:cNvPr>
          <p:cNvSpPr/>
          <p:nvPr/>
        </p:nvSpPr>
        <p:spPr>
          <a:xfrm>
            <a:off x="8081503" y="4808495"/>
            <a:ext cx="1552268" cy="5874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GRAD-CAM++</a:t>
            </a:r>
            <a:endParaRPr lang="en-IN" dirty="0">
              <a:solidFill>
                <a:schemeClr val="tx1"/>
              </a:solidFill>
            </a:endParaRPr>
          </a:p>
        </p:txBody>
      </p:sp>
      <p:sp>
        <p:nvSpPr>
          <p:cNvPr id="23" name="Rectangle: Rounded Corners 22">
            <a:extLst>
              <a:ext uri="{FF2B5EF4-FFF2-40B4-BE49-F238E27FC236}">
                <a16:creationId xmlns:a16="http://schemas.microsoft.com/office/drawing/2014/main" id="{3E0F3B7C-69DA-E144-9CEC-3F8870F9E2AE}"/>
              </a:ext>
            </a:extLst>
          </p:cNvPr>
          <p:cNvSpPr/>
          <p:nvPr/>
        </p:nvSpPr>
        <p:spPr>
          <a:xfrm>
            <a:off x="10241667" y="3709042"/>
            <a:ext cx="1283110" cy="5874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HDSA</a:t>
            </a:r>
            <a:endParaRPr lang="en-IN" dirty="0">
              <a:solidFill>
                <a:schemeClr val="tx1"/>
              </a:solidFill>
            </a:endParaRPr>
          </a:p>
        </p:txBody>
      </p:sp>
      <p:sp>
        <p:nvSpPr>
          <p:cNvPr id="26" name="Rectangle: Rounded Corners 25">
            <a:extLst>
              <a:ext uri="{FF2B5EF4-FFF2-40B4-BE49-F238E27FC236}">
                <a16:creationId xmlns:a16="http://schemas.microsoft.com/office/drawing/2014/main" id="{326D5BEA-C3EC-D810-AD31-E7F631D831B9}"/>
              </a:ext>
            </a:extLst>
          </p:cNvPr>
          <p:cNvSpPr/>
          <p:nvPr/>
        </p:nvSpPr>
        <p:spPr>
          <a:xfrm>
            <a:off x="5410054" y="2528448"/>
            <a:ext cx="1732279" cy="900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Resolution Agnostic Loss</a:t>
            </a:r>
            <a:endParaRPr lang="en-IN" dirty="0">
              <a:solidFill>
                <a:schemeClr val="tx1"/>
              </a:solidFill>
            </a:endParaRPr>
          </a:p>
        </p:txBody>
      </p:sp>
      <p:cxnSp>
        <p:nvCxnSpPr>
          <p:cNvPr id="29" name="Straight Arrow Connector 28">
            <a:extLst>
              <a:ext uri="{FF2B5EF4-FFF2-40B4-BE49-F238E27FC236}">
                <a16:creationId xmlns:a16="http://schemas.microsoft.com/office/drawing/2014/main" id="{74C26994-B21E-1F56-4E0D-7FB1B6A8D9F8}"/>
              </a:ext>
            </a:extLst>
          </p:cNvPr>
          <p:cNvCxnSpPr>
            <a:cxnSpLocks/>
            <a:stCxn id="15" idx="3"/>
            <a:endCxn id="17" idx="1"/>
          </p:cNvCxnSpPr>
          <p:nvPr/>
        </p:nvCxnSpPr>
        <p:spPr>
          <a:xfrm flipV="1">
            <a:off x="2359742" y="2970752"/>
            <a:ext cx="576000" cy="2"/>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0" name="Rectangle: Rounded Corners 49">
            <a:extLst>
              <a:ext uri="{FF2B5EF4-FFF2-40B4-BE49-F238E27FC236}">
                <a16:creationId xmlns:a16="http://schemas.microsoft.com/office/drawing/2014/main" id="{6F556D38-825B-261C-2ACD-BC1DB76E72EF}"/>
              </a:ext>
            </a:extLst>
          </p:cNvPr>
          <p:cNvSpPr/>
          <p:nvPr/>
        </p:nvSpPr>
        <p:spPr>
          <a:xfrm>
            <a:off x="5647195" y="4653281"/>
            <a:ext cx="1960991" cy="8979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endParaRPr lang="en-IN" dirty="0">
              <a:solidFill>
                <a:schemeClr val="tx1"/>
              </a:solidFill>
            </a:endParaRPr>
          </a:p>
        </p:txBody>
      </p:sp>
      <p:sp>
        <p:nvSpPr>
          <p:cNvPr id="51" name="Rectangle: Rounded Corners 50">
            <a:extLst>
              <a:ext uri="{FF2B5EF4-FFF2-40B4-BE49-F238E27FC236}">
                <a16:creationId xmlns:a16="http://schemas.microsoft.com/office/drawing/2014/main" id="{B2B445E4-3D09-CF75-2CDE-A70C9AC3B647}"/>
              </a:ext>
            </a:extLst>
          </p:cNvPr>
          <p:cNvSpPr/>
          <p:nvPr/>
        </p:nvSpPr>
        <p:spPr>
          <a:xfrm>
            <a:off x="10107088" y="4653282"/>
            <a:ext cx="1552268" cy="8979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sp>
        <p:nvSpPr>
          <p:cNvPr id="62" name="Slide Number Placeholder 61">
            <a:extLst>
              <a:ext uri="{FF2B5EF4-FFF2-40B4-BE49-F238E27FC236}">
                <a16:creationId xmlns:a16="http://schemas.microsoft.com/office/drawing/2014/main" id="{6D6D5D8C-CC9A-7232-DFF0-45AB75E2FB48}"/>
              </a:ext>
            </a:extLst>
          </p:cNvPr>
          <p:cNvSpPr>
            <a:spLocks noGrp="1"/>
          </p:cNvSpPr>
          <p:nvPr>
            <p:ph type="sldNum" sz="quarter" idx="12"/>
          </p:nvPr>
        </p:nvSpPr>
        <p:spPr/>
        <p:txBody>
          <a:bodyPr/>
          <a:lstStyle/>
          <a:p>
            <a:fld id="{D8F7052E-6653-4917-A34D-F57A760E32EA}" type="slidenum">
              <a:rPr lang="en-IN" smtClean="0"/>
              <a:t>13</a:t>
            </a:fld>
            <a:endParaRPr lang="en-IN" dirty="0"/>
          </a:p>
        </p:txBody>
      </p:sp>
      <p:cxnSp>
        <p:nvCxnSpPr>
          <p:cNvPr id="9" name="Straight Arrow Connector 8">
            <a:extLst>
              <a:ext uri="{FF2B5EF4-FFF2-40B4-BE49-F238E27FC236}">
                <a16:creationId xmlns:a16="http://schemas.microsoft.com/office/drawing/2014/main" id="{A21C70B8-DF94-9D48-08EC-447C5582C370}"/>
              </a:ext>
            </a:extLst>
          </p:cNvPr>
          <p:cNvCxnSpPr>
            <a:cxnSpLocks/>
            <a:stCxn id="17" idx="3"/>
          </p:cNvCxnSpPr>
          <p:nvPr/>
        </p:nvCxnSpPr>
        <p:spPr>
          <a:xfrm>
            <a:off x="4795768" y="2970753"/>
            <a:ext cx="627922" cy="7969"/>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EC8F832-3BC7-CE63-DEF1-7F126A1E324D}"/>
              </a:ext>
            </a:extLst>
          </p:cNvPr>
          <p:cNvCxnSpPr>
            <a:cxnSpLocks/>
            <a:stCxn id="26" idx="3"/>
            <a:endCxn id="19" idx="1"/>
          </p:cNvCxnSpPr>
          <p:nvPr/>
        </p:nvCxnSpPr>
        <p:spPr>
          <a:xfrm flipV="1">
            <a:off x="7142333" y="2961641"/>
            <a:ext cx="388410" cy="17083"/>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DE48F18-1A18-F9A0-1CC2-58780FC2F000}"/>
              </a:ext>
            </a:extLst>
          </p:cNvPr>
          <p:cNvCxnSpPr>
            <a:cxnSpLocks/>
            <a:stCxn id="19" idx="3"/>
            <a:endCxn id="20" idx="1"/>
          </p:cNvCxnSpPr>
          <p:nvPr/>
        </p:nvCxnSpPr>
        <p:spPr>
          <a:xfrm>
            <a:off x="9900458" y="2961641"/>
            <a:ext cx="341209" cy="5740"/>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C5E5415-BD52-1A25-1B40-8BDDD2BF0F6B}"/>
              </a:ext>
            </a:extLst>
          </p:cNvPr>
          <p:cNvCxnSpPr>
            <a:cxnSpLocks/>
            <a:stCxn id="20" idx="2"/>
            <a:endCxn id="23" idx="0"/>
          </p:cNvCxnSpPr>
          <p:nvPr/>
        </p:nvCxnSpPr>
        <p:spPr>
          <a:xfrm>
            <a:off x="10883222" y="3261119"/>
            <a:ext cx="0" cy="447923"/>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B75B58E-2136-850D-5DA9-3DC1F2471507}"/>
              </a:ext>
            </a:extLst>
          </p:cNvPr>
          <p:cNvCxnSpPr>
            <a:cxnSpLocks/>
            <a:stCxn id="23" idx="2"/>
          </p:cNvCxnSpPr>
          <p:nvPr/>
        </p:nvCxnSpPr>
        <p:spPr>
          <a:xfrm flipH="1">
            <a:off x="10883221" y="4296519"/>
            <a:ext cx="1" cy="356762"/>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6F7FC57-C60B-5CE3-607D-4AFC10077D84}"/>
              </a:ext>
            </a:extLst>
          </p:cNvPr>
          <p:cNvCxnSpPr>
            <a:cxnSpLocks/>
            <a:stCxn id="51" idx="1"/>
            <a:endCxn id="22" idx="3"/>
          </p:cNvCxnSpPr>
          <p:nvPr/>
        </p:nvCxnSpPr>
        <p:spPr>
          <a:xfrm flipH="1" flipV="1">
            <a:off x="9633771" y="5102234"/>
            <a:ext cx="473317" cy="1"/>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D834725F-FDC3-534F-4F90-FB90DD39F09E}"/>
              </a:ext>
            </a:extLst>
          </p:cNvPr>
          <p:cNvCxnSpPr>
            <a:cxnSpLocks/>
            <a:endCxn id="50" idx="3"/>
          </p:cNvCxnSpPr>
          <p:nvPr/>
        </p:nvCxnSpPr>
        <p:spPr>
          <a:xfrm flipH="1">
            <a:off x="7608186" y="5102234"/>
            <a:ext cx="473317" cy="0"/>
          </a:xfrm>
          <a:prstGeom prst="straightConnector1">
            <a:avLst/>
          </a:prstGeom>
          <a:ln w="412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591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1512-6305-BF10-1519-5B2F90D14F1B}"/>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Dataset</a:t>
            </a:r>
            <a:endParaRPr lang="en-IN" dirty="0"/>
          </a:p>
        </p:txBody>
      </p:sp>
      <p:sp>
        <p:nvSpPr>
          <p:cNvPr id="3" name="Content Placeholder 2">
            <a:extLst>
              <a:ext uri="{FF2B5EF4-FFF2-40B4-BE49-F238E27FC236}">
                <a16:creationId xmlns:a16="http://schemas.microsoft.com/office/drawing/2014/main" id="{B3E5CADF-5338-F967-5D13-9529FE592B57}"/>
              </a:ext>
            </a:extLst>
          </p:cNvPr>
          <p:cNvSpPr>
            <a:spLocks noGrp="1"/>
          </p:cNvSpPr>
          <p:nvPr>
            <p:ph idx="1"/>
          </p:nvPr>
        </p:nvSpPr>
        <p:spPr/>
        <p:txBody>
          <a:bodyPr>
            <a:normAutofit/>
          </a:bodyPr>
          <a:lstStyle/>
          <a:p>
            <a:pPr algn="just">
              <a:lnSpc>
                <a:spcPct val="150000"/>
              </a:lnSpc>
            </a:pPr>
            <a:r>
              <a:rPr lang="en-US" sz="1800" dirty="0"/>
              <a:t>The proposed model is trained and evaluated using the </a:t>
            </a:r>
            <a:r>
              <a:rPr lang="en-US" sz="1800" b="1" dirty="0"/>
              <a:t>BraTS dataset</a:t>
            </a:r>
            <a:r>
              <a:rPr lang="en-US" sz="1800" dirty="0"/>
              <a:t>, which is widely used for brain tumor analysis. The dataset contains multimodal MRI scans including </a:t>
            </a:r>
            <a:r>
              <a:rPr lang="en-US" sz="1800" b="1" dirty="0"/>
              <a:t>T1, T2, FLAIR, and T1CE</a:t>
            </a:r>
            <a:r>
              <a:rPr lang="en-US" sz="1800" dirty="0"/>
              <a:t>, providing detailed information about brain tissues and tumor regions. Each MRI scan includes </a:t>
            </a:r>
            <a:r>
              <a:rPr lang="en-US" sz="1800" b="1" dirty="0"/>
              <a:t>expert-annotated tumor segmentation masks</a:t>
            </a:r>
            <a:r>
              <a:rPr lang="en-US" sz="1800" dirty="0"/>
              <a:t>, which help train models for accurate tumor detection and segmentation. The dataset contains </a:t>
            </a:r>
            <a:r>
              <a:rPr lang="en-US" sz="1800" b="1" dirty="0"/>
              <a:t>over 3000 MRI samples</a:t>
            </a:r>
            <a:r>
              <a:rPr lang="en-US" sz="1800" dirty="0"/>
              <a:t>, and additional augmented samples are generated to improve model robustness. Low-resolution MRI variants are created to train the model to handle different image qualities and resolutions.</a:t>
            </a:r>
          </a:p>
          <a:p>
            <a:pPr algn="just"/>
            <a:endParaRPr lang="en-IN" sz="1900" dirty="0"/>
          </a:p>
        </p:txBody>
      </p:sp>
      <p:pic>
        <p:nvPicPr>
          <p:cNvPr id="4" name="Picture 3">
            <a:extLst>
              <a:ext uri="{FF2B5EF4-FFF2-40B4-BE49-F238E27FC236}">
                <a16:creationId xmlns:a16="http://schemas.microsoft.com/office/drawing/2014/main" id="{9C95DB00-9FF1-E485-8D7C-9EB8E69244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280" y="4736039"/>
            <a:ext cx="5041528" cy="1133055"/>
          </a:xfrm>
          <a:prstGeom prst="rect">
            <a:avLst/>
          </a:prstGeom>
          <a:noFill/>
          <a:ln>
            <a:noFill/>
          </a:ln>
        </p:spPr>
      </p:pic>
      <p:pic>
        <p:nvPicPr>
          <p:cNvPr id="9" name="Picture 8">
            <a:extLst>
              <a:ext uri="{FF2B5EF4-FFF2-40B4-BE49-F238E27FC236}">
                <a16:creationId xmlns:a16="http://schemas.microsoft.com/office/drawing/2014/main" id="{9F1A5D35-6506-3565-3494-D7E3B842E25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9073" y="4783517"/>
            <a:ext cx="4596341" cy="1085577"/>
          </a:xfrm>
          <a:prstGeom prst="rect">
            <a:avLst/>
          </a:prstGeom>
          <a:noFill/>
          <a:ln>
            <a:noFill/>
          </a:ln>
        </p:spPr>
      </p:pic>
      <p:sp>
        <p:nvSpPr>
          <p:cNvPr id="10" name="Slide Number Placeholder 9">
            <a:extLst>
              <a:ext uri="{FF2B5EF4-FFF2-40B4-BE49-F238E27FC236}">
                <a16:creationId xmlns:a16="http://schemas.microsoft.com/office/drawing/2014/main" id="{171F7395-323C-E0E2-3D3C-C4A12DAA6932}"/>
              </a:ext>
            </a:extLst>
          </p:cNvPr>
          <p:cNvSpPr>
            <a:spLocks noGrp="1"/>
          </p:cNvSpPr>
          <p:nvPr>
            <p:ph type="sldNum" sz="quarter" idx="12"/>
          </p:nvPr>
        </p:nvSpPr>
        <p:spPr/>
        <p:txBody>
          <a:bodyPr/>
          <a:lstStyle/>
          <a:p>
            <a:fld id="{D8F7052E-6653-4917-A34D-F57A760E32EA}" type="slidenum">
              <a:rPr lang="en-IN" smtClean="0"/>
              <a:t>14</a:t>
            </a:fld>
            <a:endParaRPr lang="en-IN" dirty="0"/>
          </a:p>
        </p:txBody>
      </p:sp>
    </p:spTree>
    <p:extLst>
      <p:ext uri="{BB962C8B-B14F-4D97-AF65-F5344CB8AC3E}">
        <p14:creationId xmlns:p14="http://schemas.microsoft.com/office/powerpoint/2010/main" val="68389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1E07-6ACB-52D4-C5DD-6A3D37D9FE66}"/>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Preprocessing</a:t>
            </a:r>
            <a:endParaRPr lang="en-IN" dirty="0"/>
          </a:p>
        </p:txBody>
      </p:sp>
      <p:sp>
        <p:nvSpPr>
          <p:cNvPr id="3" name="Content Placeholder 2">
            <a:extLst>
              <a:ext uri="{FF2B5EF4-FFF2-40B4-BE49-F238E27FC236}">
                <a16:creationId xmlns:a16="http://schemas.microsoft.com/office/drawing/2014/main" id="{56B15CB9-D184-3A9A-A357-EE0C18A07EE2}"/>
              </a:ext>
            </a:extLst>
          </p:cNvPr>
          <p:cNvSpPr>
            <a:spLocks noGrp="1"/>
          </p:cNvSpPr>
          <p:nvPr>
            <p:ph idx="1"/>
          </p:nvPr>
        </p:nvSpPr>
        <p:spPr/>
        <p:txBody>
          <a:bodyPr>
            <a:normAutofit lnSpcReduction="10000"/>
          </a:bodyPr>
          <a:lstStyle/>
          <a:p>
            <a:pPr>
              <a:lnSpc>
                <a:spcPct val="150000"/>
              </a:lnSpc>
            </a:pPr>
            <a:r>
              <a:rPr lang="en-US" b="1" dirty="0"/>
              <a:t>Intensity Normalization</a:t>
            </a:r>
          </a:p>
          <a:p>
            <a:pPr algn="just">
              <a:lnSpc>
                <a:spcPct val="150000"/>
              </a:lnSpc>
            </a:pPr>
            <a:r>
              <a:rPr lang="en-US" sz="1800" dirty="0"/>
              <a:t>MRI scans collected from different machines may have varying intensity values. Intensity normalization rescales pixel values to a standard range, usually between 0 and 1. This helps maintain consistency across all images and improves model training stability.</a:t>
            </a:r>
          </a:p>
          <a:p>
            <a:pPr>
              <a:lnSpc>
                <a:spcPct val="150000"/>
              </a:lnSpc>
            </a:pPr>
            <a:r>
              <a:rPr lang="en-US" b="1" dirty="0"/>
              <a:t>Mean–Variance Standardization</a:t>
            </a:r>
          </a:p>
          <a:p>
            <a:pPr algn="just">
              <a:lnSpc>
                <a:spcPct val="150000"/>
              </a:lnSpc>
            </a:pPr>
            <a:r>
              <a:rPr lang="en-US" sz="1800" dirty="0"/>
              <a:t>Different MRI images may have variations in brightness and contrast. Mean–variance standardization adjusts the pixel intensity values using the mean and standard deviation of the image. This reduces intensity variation and ensures uniform data distribution.</a:t>
            </a:r>
          </a:p>
          <a:p>
            <a:endParaRPr lang="en-IN" dirty="0"/>
          </a:p>
        </p:txBody>
      </p:sp>
      <p:sp>
        <p:nvSpPr>
          <p:cNvPr id="4" name="Slide Number Placeholder 3">
            <a:extLst>
              <a:ext uri="{FF2B5EF4-FFF2-40B4-BE49-F238E27FC236}">
                <a16:creationId xmlns:a16="http://schemas.microsoft.com/office/drawing/2014/main" id="{39005CB0-02CC-9D23-A732-FAC9EABC0C07}"/>
              </a:ext>
            </a:extLst>
          </p:cNvPr>
          <p:cNvSpPr>
            <a:spLocks noGrp="1"/>
          </p:cNvSpPr>
          <p:nvPr>
            <p:ph type="sldNum" sz="quarter" idx="12"/>
          </p:nvPr>
        </p:nvSpPr>
        <p:spPr/>
        <p:txBody>
          <a:bodyPr/>
          <a:lstStyle/>
          <a:p>
            <a:fld id="{D8F7052E-6653-4917-A34D-F57A760E32EA}" type="slidenum">
              <a:rPr lang="en-IN" smtClean="0"/>
              <a:t>15</a:t>
            </a:fld>
            <a:endParaRPr lang="en-IN" dirty="0"/>
          </a:p>
        </p:txBody>
      </p:sp>
    </p:spTree>
    <p:extLst>
      <p:ext uri="{BB962C8B-B14F-4D97-AF65-F5344CB8AC3E}">
        <p14:creationId xmlns:p14="http://schemas.microsoft.com/office/powerpoint/2010/main" val="3503271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46E0-0AD8-3B96-5AED-AC17A45C92B8}"/>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Contd..</a:t>
            </a:r>
            <a:endParaRPr lang="en-IN" dirty="0"/>
          </a:p>
        </p:txBody>
      </p:sp>
      <p:sp>
        <p:nvSpPr>
          <p:cNvPr id="3" name="Content Placeholder 2">
            <a:extLst>
              <a:ext uri="{FF2B5EF4-FFF2-40B4-BE49-F238E27FC236}">
                <a16:creationId xmlns:a16="http://schemas.microsoft.com/office/drawing/2014/main" id="{883ED817-7F99-5ED5-6BFA-2F20BCA993B8}"/>
              </a:ext>
            </a:extLst>
          </p:cNvPr>
          <p:cNvSpPr>
            <a:spLocks noGrp="1"/>
          </p:cNvSpPr>
          <p:nvPr>
            <p:ph idx="1"/>
          </p:nvPr>
        </p:nvSpPr>
        <p:spPr/>
        <p:txBody>
          <a:bodyPr>
            <a:normAutofit/>
          </a:bodyPr>
          <a:lstStyle/>
          <a:p>
            <a:pPr>
              <a:lnSpc>
                <a:spcPct val="150000"/>
              </a:lnSpc>
            </a:pPr>
            <a:r>
              <a:rPr lang="en-US" b="1" dirty="0">
                <a:solidFill>
                  <a:schemeClr val="tx1"/>
                </a:solidFill>
                <a:latin typeface="+mj-lt"/>
              </a:rPr>
              <a:t>Feature Augmentation</a:t>
            </a:r>
          </a:p>
          <a:p>
            <a:pPr algn="just">
              <a:lnSpc>
                <a:spcPct val="150000"/>
              </a:lnSpc>
            </a:pPr>
            <a:r>
              <a:rPr lang="en-US" sz="1800" dirty="0">
                <a:latin typeface="+mj-lt"/>
              </a:rPr>
              <a:t>To improve the model performance and its capabilities data augmentation technique is used by adding images through rotations or flipping or cropping</a:t>
            </a:r>
            <a:endParaRPr lang="en-IN" sz="1800" dirty="0">
              <a:latin typeface="+mj-lt"/>
            </a:endParaRPr>
          </a:p>
          <a:p>
            <a:pPr>
              <a:lnSpc>
                <a:spcPct val="150000"/>
              </a:lnSpc>
            </a:pPr>
            <a:r>
              <a:rPr lang="en-US" b="1" dirty="0">
                <a:solidFill>
                  <a:schemeClr val="tx1"/>
                </a:solidFill>
                <a:latin typeface="+mj-lt"/>
              </a:rPr>
              <a:t>Guassian Smoothing</a:t>
            </a:r>
          </a:p>
          <a:p>
            <a:pPr algn="just">
              <a:lnSpc>
                <a:spcPct val="150000"/>
              </a:lnSpc>
            </a:pPr>
            <a:r>
              <a:rPr lang="en-US" sz="1800" dirty="0">
                <a:latin typeface="+mj-lt"/>
              </a:rPr>
              <a:t>Gaussian smoothing, is a widely used effect in image processing to reduce image noise and detail. It is achieved by convolving an image with a Gaussian function, which results in a smooth blur resembling the effect of viewing the image through a translucent screen</a:t>
            </a:r>
            <a:r>
              <a:rPr lang="en-US" dirty="0">
                <a:latin typeface="+mj-lt"/>
              </a:rPr>
              <a:t>.</a:t>
            </a:r>
            <a:endParaRPr lang="en-US" sz="1900" dirty="0">
              <a:latin typeface="+mj-lt"/>
            </a:endParaRPr>
          </a:p>
          <a:p>
            <a:endParaRPr lang="en-IN" dirty="0"/>
          </a:p>
        </p:txBody>
      </p:sp>
      <p:sp>
        <p:nvSpPr>
          <p:cNvPr id="4" name="Slide Number Placeholder 3">
            <a:extLst>
              <a:ext uri="{FF2B5EF4-FFF2-40B4-BE49-F238E27FC236}">
                <a16:creationId xmlns:a16="http://schemas.microsoft.com/office/drawing/2014/main" id="{BD308F7B-1964-FC53-7034-CE4E9799936D}"/>
              </a:ext>
            </a:extLst>
          </p:cNvPr>
          <p:cNvSpPr>
            <a:spLocks noGrp="1"/>
          </p:cNvSpPr>
          <p:nvPr>
            <p:ph type="sldNum" sz="quarter" idx="12"/>
          </p:nvPr>
        </p:nvSpPr>
        <p:spPr/>
        <p:txBody>
          <a:bodyPr/>
          <a:lstStyle/>
          <a:p>
            <a:fld id="{D8F7052E-6653-4917-A34D-F57A760E32EA}" type="slidenum">
              <a:rPr lang="en-IN" smtClean="0"/>
              <a:t>16</a:t>
            </a:fld>
            <a:endParaRPr lang="en-IN" dirty="0"/>
          </a:p>
        </p:txBody>
      </p:sp>
    </p:spTree>
    <p:extLst>
      <p:ext uri="{BB962C8B-B14F-4D97-AF65-F5344CB8AC3E}">
        <p14:creationId xmlns:p14="http://schemas.microsoft.com/office/powerpoint/2010/main" val="2631620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D053-2D02-B961-28DE-6407817861E8}"/>
              </a:ext>
            </a:extLst>
          </p:cNvPr>
          <p:cNvSpPr>
            <a:spLocks noGrp="1"/>
          </p:cNvSpPr>
          <p:nvPr>
            <p:ph type="title"/>
          </p:nvPr>
        </p:nvSpPr>
        <p:spPr>
          <a:xfrm>
            <a:off x="1066800" y="166817"/>
            <a:ext cx="10058400" cy="1450757"/>
          </a:xfrm>
        </p:spPr>
        <p:txBody>
          <a:bodyPr/>
          <a:lstStyle/>
          <a:p>
            <a:r>
              <a:rPr lang="en-US" dirty="0">
                <a:solidFill>
                  <a:srgbClr val="C00000"/>
                </a:solidFill>
                <a:latin typeface="Times New Roman" panose="02020603050405020304" pitchFamily="18" charset="0"/>
                <a:cs typeface="Times New Roman" panose="02020603050405020304" pitchFamily="18" charset="0"/>
              </a:rPr>
              <a:t>Results</a:t>
            </a:r>
            <a:endParaRPr lang="en-IN" dirty="0"/>
          </a:p>
        </p:txBody>
      </p:sp>
      <p:graphicFrame>
        <p:nvGraphicFramePr>
          <p:cNvPr id="4" name="Content Placeholder 3">
            <a:extLst>
              <a:ext uri="{FF2B5EF4-FFF2-40B4-BE49-F238E27FC236}">
                <a16:creationId xmlns:a16="http://schemas.microsoft.com/office/drawing/2014/main" id="{0B594026-E874-EF70-E123-A4E0155804BF}"/>
              </a:ext>
            </a:extLst>
          </p:cNvPr>
          <p:cNvGraphicFramePr>
            <a:graphicFrameLocks noGrp="1"/>
          </p:cNvGraphicFramePr>
          <p:nvPr>
            <p:ph idx="1"/>
            <p:extLst>
              <p:ext uri="{D42A27DB-BD31-4B8C-83A1-F6EECF244321}">
                <p14:modId xmlns:p14="http://schemas.microsoft.com/office/powerpoint/2010/main" val="2763286866"/>
              </p:ext>
            </p:extLst>
          </p:nvPr>
        </p:nvGraphicFramePr>
        <p:xfrm>
          <a:off x="1342975" y="1774250"/>
          <a:ext cx="4074598" cy="4076584"/>
        </p:xfrm>
        <a:graphic>
          <a:graphicData uri="http://schemas.openxmlformats.org/drawingml/2006/table">
            <a:tbl>
              <a:tblPr firstRow="1" firstCol="1" bandRow="1">
                <a:tableStyleId>{5C22544A-7EE6-4342-B048-85BDC9FD1C3A}</a:tableStyleId>
              </a:tblPr>
              <a:tblGrid>
                <a:gridCol w="812286">
                  <a:extLst>
                    <a:ext uri="{9D8B030D-6E8A-4147-A177-3AD203B41FA5}">
                      <a16:colId xmlns:a16="http://schemas.microsoft.com/office/drawing/2014/main" val="2792357737"/>
                    </a:ext>
                  </a:extLst>
                </a:gridCol>
                <a:gridCol w="815578">
                  <a:extLst>
                    <a:ext uri="{9D8B030D-6E8A-4147-A177-3AD203B41FA5}">
                      <a16:colId xmlns:a16="http://schemas.microsoft.com/office/drawing/2014/main" val="4025082883"/>
                    </a:ext>
                  </a:extLst>
                </a:gridCol>
                <a:gridCol w="815578">
                  <a:extLst>
                    <a:ext uri="{9D8B030D-6E8A-4147-A177-3AD203B41FA5}">
                      <a16:colId xmlns:a16="http://schemas.microsoft.com/office/drawing/2014/main" val="3413938690"/>
                    </a:ext>
                  </a:extLst>
                </a:gridCol>
                <a:gridCol w="815578">
                  <a:extLst>
                    <a:ext uri="{9D8B030D-6E8A-4147-A177-3AD203B41FA5}">
                      <a16:colId xmlns:a16="http://schemas.microsoft.com/office/drawing/2014/main" val="2505732986"/>
                    </a:ext>
                  </a:extLst>
                </a:gridCol>
                <a:gridCol w="815578">
                  <a:extLst>
                    <a:ext uri="{9D8B030D-6E8A-4147-A177-3AD203B41FA5}">
                      <a16:colId xmlns:a16="http://schemas.microsoft.com/office/drawing/2014/main" val="90619023"/>
                    </a:ext>
                  </a:extLst>
                </a:gridCol>
              </a:tblGrid>
              <a:tr h="371220">
                <a:tc gridSpan="5">
                  <a:txBody>
                    <a:bodyPr/>
                    <a:lstStyle/>
                    <a:p>
                      <a:pPr algn="ctr">
                        <a:buNone/>
                      </a:pPr>
                      <a:r>
                        <a:rPr lang="en-US" sz="1000" dirty="0">
                          <a:effectLst/>
                          <a:latin typeface="+mj-lt"/>
                        </a:rPr>
                        <a:t>BASELINE-CNN</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08949798"/>
                  </a:ext>
                </a:extLst>
              </a:tr>
              <a:tr h="391111">
                <a:tc rowSpan="2">
                  <a:txBody>
                    <a:bodyPr/>
                    <a:lstStyle/>
                    <a:p>
                      <a:pPr algn="ctr">
                        <a:buNone/>
                      </a:pPr>
                      <a:r>
                        <a:rPr lang="en-US" sz="1000" dirty="0">
                          <a:effectLst/>
                          <a:latin typeface="+mj-lt"/>
                        </a:rPr>
                        <a:t> </a:t>
                      </a:r>
                      <a:endParaRPr lang="en-IN" sz="1000" dirty="0">
                        <a:effectLst/>
                        <a:latin typeface="+mj-lt"/>
                      </a:endParaRPr>
                    </a:p>
                    <a:p>
                      <a:pPr algn="ctr">
                        <a:buNone/>
                      </a:pPr>
                      <a:r>
                        <a:rPr lang="en-US" sz="1000" dirty="0">
                          <a:effectLst/>
                          <a:latin typeface="+mj-lt"/>
                        </a:rPr>
                        <a:t> </a:t>
                      </a:r>
                      <a:endParaRPr lang="en-IN" sz="1000" dirty="0">
                        <a:effectLst/>
                        <a:latin typeface="+mj-lt"/>
                      </a:endParaRPr>
                    </a:p>
                    <a:p>
                      <a:pPr algn="ctr">
                        <a:buNone/>
                      </a:pPr>
                      <a:r>
                        <a:rPr lang="en-US" sz="1000" dirty="0">
                          <a:effectLst/>
                          <a:latin typeface="+mj-lt"/>
                        </a:rPr>
                        <a:t>Epochs</a:t>
                      </a:r>
                      <a:endParaRPr lang="en-IN" sz="1000" dirty="0">
                        <a:effectLst/>
                        <a:latin typeface="+mj-lt"/>
                        <a:ea typeface="SimSun" panose="02010600030101010101" pitchFamily="2" charset="-122"/>
                      </a:endParaRPr>
                    </a:p>
                  </a:txBody>
                  <a:tcPr marL="68580" marR="68580" marT="0" marB="0" anchor="ctr"/>
                </a:tc>
                <a:tc gridSpan="2">
                  <a:txBody>
                    <a:bodyPr/>
                    <a:lstStyle/>
                    <a:p>
                      <a:pPr algn="ctr">
                        <a:buNone/>
                      </a:pPr>
                      <a:r>
                        <a:rPr lang="en-US" sz="1000" dirty="0">
                          <a:effectLst/>
                          <a:latin typeface="+mj-lt"/>
                        </a:rPr>
                        <a:t>Performance Accuracy</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tc gridSpan="2">
                  <a:txBody>
                    <a:bodyPr/>
                    <a:lstStyle/>
                    <a:p>
                      <a:pPr algn="ctr">
                        <a:buNone/>
                      </a:pPr>
                      <a:r>
                        <a:rPr lang="en-US" sz="1000" dirty="0">
                          <a:effectLst/>
                          <a:latin typeface="+mj-lt"/>
                        </a:rPr>
                        <a:t>Performance Loss</a:t>
                      </a:r>
                      <a:endParaRPr lang="en-IN" sz="1000" dirty="0">
                        <a:effectLst/>
                        <a:latin typeface="+mj-lt"/>
                      </a:endParaRPr>
                    </a:p>
                    <a:p>
                      <a:pPr algn="ctr">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extLst>
                  <a:ext uri="{0D108BD9-81ED-4DB2-BD59-A6C34878D82A}">
                    <a16:rowId xmlns:a16="http://schemas.microsoft.com/office/drawing/2014/main" val="3284078595"/>
                  </a:ext>
                </a:extLst>
              </a:tr>
              <a:tr h="1009351">
                <a:tc vMerge="1">
                  <a:txBody>
                    <a:bodyPr/>
                    <a:lstStyle/>
                    <a:p>
                      <a:endParaRPr lang="en-IN"/>
                    </a:p>
                  </a:txBody>
                  <a:tcPr/>
                </a:tc>
                <a:tc>
                  <a:txBody>
                    <a:bodyPr/>
                    <a:lstStyle/>
                    <a:p>
                      <a:pPr algn="ctr">
                        <a:spcBef>
                          <a:spcPts val="1200"/>
                        </a:spcBef>
                        <a:buNone/>
                      </a:pPr>
                      <a:r>
                        <a:rPr lang="en-US" sz="1000" dirty="0">
                          <a:effectLst/>
                          <a:latin typeface="+mj-lt"/>
                        </a:rPr>
                        <a:t>Training Accuracy</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Validation Accuracy</a:t>
                      </a:r>
                      <a:endParaRPr lang="en-IN" sz="1000" dirty="0">
                        <a:effectLst/>
                        <a:latin typeface="+mj-lt"/>
                      </a:endParaRPr>
                    </a:p>
                    <a:p>
                      <a:pPr algn="ctr">
                        <a:spcBef>
                          <a:spcPts val="1200"/>
                        </a:spcBef>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Training Loss</a:t>
                      </a:r>
                      <a:endParaRPr lang="en-IN" sz="1000" dirty="0">
                        <a:effectLst/>
                        <a:latin typeface="+mj-lt"/>
                      </a:endParaRPr>
                    </a:p>
                    <a:p>
                      <a:pPr algn="ctr">
                        <a:spcBef>
                          <a:spcPts val="1200"/>
                        </a:spcBef>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Validation Loss</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721616177"/>
                  </a:ext>
                </a:extLst>
              </a:tr>
              <a:tr h="229166">
                <a:tc>
                  <a:txBody>
                    <a:bodyPr/>
                    <a:lstStyle/>
                    <a:p>
                      <a:pPr algn="ctr">
                        <a:buNone/>
                      </a:pPr>
                      <a:r>
                        <a:rPr lang="en-US" sz="1000" dirty="0">
                          <a:effectLst/>
                          <a:latin typeface="+mj-lt"/>
                        </a:rPr>
                        <a:t>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0.6587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0.6314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0.7161</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75658073"/>
                  </a:ext>
                </a:extLst>
              </a:tr>
              <a:tr h="229166">
                <a:tc>
                  <a:txBody>
                    <a:bodyPr/>
                    <a:lstStyle/>
                    <a:p>
                      <a:pPr algn="ctr">
                        <a:buNone/>
                      </a:pPr>
                      <a:r>
                        <a:rPr lang="en-US" sz="1000" dirty="0">
                          <a:effectLst/>
                          <a:latin typeface="+mj-lt"/>
                        </a:rPr>
                        <a:t>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0.6636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0.6118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0.7050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3017285184"/>
                  </a:ext>
                </a:extLst>
              </a:tr>
              <a:tr h="229166">
                <a:tc>
                  <a:txBody>
                    <a:bodyPr/>
                    <a:lstStyle/>
                    <a:p>
                      <a:pPr algn="ctr">
                        <a:buNone/>
                      </a:pPr>
                      <a:r>
                        <a:rPr lang="en-US" sz="1000" dirty="0">
                          <a:effectLst/>
                          <a:latin typeface="+mj-lt"/>
                        </a:rPr>
                        <a:t>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0.7974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0.4267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0.5973</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2071035591"/>
                  </a:ext>
                </a:extLst>
              </a:tr>
              <a:tr h="229166">
                <a:tc>
                  <a:txBody>
                    <a:bodyPr/>
                    <a:lstStyle/>
                    <a:p>
                      <a:pPr algn="ctr">
                        <a:buNone/>
                      </a:pPr>
                      <a:r>
                        <a:rPr lang="en-US" sz="1000" dirty="0">
                          <a:effectLst/>
                          <a:latin typeface="+mj-lt"/>
                        </a:rPr>
                        <a:t>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0.3571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0.5374</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3530162956"/>
                  </a:ext>
                </a:extLst>
              </a:tr>
              <a:tr h="229166">
                <a:tc>
                  <a:txBody>
                    <a:bodyPr/>
                    <a:lstStyle/>
                    <a:p>
                      <a:pPr algn="ctr">
                        <a:buNone/>
                      </a:pPr>
                      <a:r>
                        <a:rPr lang="en-US" sz="1000" dirty="0">
                          <a:effectLst/>
                          <a:latin typeface="+mj-lt"/>
                        </a:rPr>
                        <a:t>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0.9185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0.2386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0.4231</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834122477"/>
                  </a:ext>
                </a:extLst>
              </a:tr>
              <a:tr h="242408">
                <a:tc>
                  <a:txBody>
                    <a:bodyPr/>
                    <a:lstStyle/>
                    <a:p>
                      <a:pPr algn="ctr">
                        <a:buNone/>
                      </a:pPr>
                      <a:r>
                        <a:rPr lang="en-US" sz="1000" dirty="0">
                          <a:effectLst/>
                          <a:latin typeface="+mj-lt"/>
                        </a:rPr>
                        <a:t>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0.9643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0.1774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0.4167</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448201124"/>
                  </a:ext>
                </a:extLst>
              </a:tr>
              <a:tr h="229166">
                <a:tc>
                  <a:txBody>
                    <a:bodyPr/>
                    <a:lstStyle/>
                    <a:p>
                      <a:pPr algn="ctr">
                        <a:buNone/>
                      </a:pPr>
                      <a:r>
                        <a:rPr lang="en-US" sz="1000" dirty="0">
                          <a:effectLst/>
                          <a:latin typeface="+mj-lt"/>
                        </a:rPr>
                        <a:t>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0.9719</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0.1160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0.3754</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2568073841"/>
                  </a:ext>
                </a:extLst>
              </a:tr>
              <a:tr h="229166">
                <a:tc>
                  <a:txBody>
                    <a:bodyPr/>
                    <a:lstStyle/>
                    <a:p>
                      <a:pPr algn="ctr">
                        <a:buNone/>
                      </a:pPr>
                      <a:r>
                        <a:rPr lang="en-US" sz="1000" dirty="0">
                          <a:effectLst/>
                          <a:latin typeface="+mj-lt"/>
                        </a:rPr>
                        <a:t>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0.9857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0.0698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0.4159</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752053486"/>
                  </a:ext>
                </a:extLst>
              </a:tr>
              <a:tr h="229166">
                <a:tc>
                  <a:txBody>
                    <a:bodyPr/>
                    <a:lstStyle/>
                    <a:p>
                      <a:pPr algn="ctr">
                        <a:buNone/>
                      </a:pPr>
                      <a:r>
                        <a:rPr lang="en-US" sz="1000" dirty="0">
                          <a:effectLst/>
                          <a:latin typeface="+mj-lt"/>
                        </a:rPr>
                        <a:t>9</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0.9785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0.0807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0.4006</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3960043548"/>
                  </a:ext>
                </a:extLst>
              </a:tr>
              <a:tr h="229166">
                <a:tc>
                  <a:txBody>
                    <a:bodyPr/>
                    <a:lstStyle/>
                    <a:p>
                      <a:pPr algn="ctr">
                        <a:buNone/>
                      </a:pPr>
                      <a:r>
                        <a:rPr lang="en-US" sz="1000" dirty="0">
                          <a:effectLst/>
                          <a:latin typeface="+mj-lt"/>
                        </a:rPr>
                        <a:t>10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0.9912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0.0388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0.4637</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171366217"/>
                  </a:ext>
                </a:extLst>
              </a:tr>
            </a:tbl>
          </a:graphicData>
        </a:graphic>
      </p:graphicFrame>
      <p:graphicFrame>
        <p:nvGraphicFramePr>
          <p:cNvPr id="5" name="Table 4">
            <a:extLst>
              <a:ext uri="{FF2B5EF4-FFF2-40B4-BE49-F238E27FC236}">
                <a16:creationId xmlns:a16="http://schemas.microsoft.com/office/drawing/2014/main" id="{D23385AE-3639-7A4E-1D5E-EF87BECCD0BC}"/>
              </a:ext>
            </a:extLst>
          </p:cNvPr>
          <p:cNvGraphicFramePr>
            <a:graphicFrameLocks noGrp="1"/>
          </p:cNvGraphicFramePr>
          <p:nvPr>
            <p:extLst>
              <p:ext uri="{D42A27DB-BD31-4B8C-83A1-F6EECF244321}">
                <p14:modId xmlns:p14="http://schemas.microsoft.com/office/powerpoint/2010/main" val="1822959539"/>
              </p:ext>
            </p:extLst>
          </p:nvPr>
        </p:nvGraphicFramePr>
        <p:xfrm>
          <a:off x="5987849" y="1791492"/>
          <a:ext cx="4381252" cy="4042100"/>
        </p:xfrm>
        <a:graphic>
          <a:graphicData uri="http://schemas.openxmlformats.org/drawingml/2006/table">
            <a:tbl>
              <a:tblPr firstRow="1" firstCol="1" bandRow="1">
                <a:tableStyleId>{5C22544A-7EE6-4342-B048-85BDC9FD1C3A}</a:tableStyleId>
              </a:tblPr>
              <a:tblGrid>
                <a:gridCol w="873818">
                  <a:extLst>
                    <a:ext uri="{9D8B030D-6E8A-4147-A177-3AD203B41FA5}">
                      <a16:colId xmlns:a16="http://schemas.microsoft.com/office/drawing/2014/main" val="1883854238"/>
                    </a:ext>
                  </a:extLst>
                </a:gridCol>
                <a:gridCol w="876425">
                  <a:extLst>
                    <a:ext uri="{9D8B030D-6E8A-4147-A177-3AD203B41FA5}">
                      <a16:colId xmlns:a16="http://schemas.microsoft.com/office/drawing/2014/main" val="603941793"/>
                    </a:ext>
                  </a:extLst>
                </a:gridCol>
                <a:gridCol w="876425">
                  <a:extLst>
                    <a:ext uri="{9D8B030D-6E8A-4147-A177-3AD203B41FA5}">
                      <a16:colId xmlns:a16="http://schemas.microsoft.com/office/drawing/2014/main" val="4222459589"/>
                    </a:ext>
                  </a:extLst>
                </a:gridCol>
                <a:gridCol w="877292">
                  <a:extLst>
                    <a:ext uri="{9D8B030D-6E8A-4147-A177-3AD203B41FA5}">
                      <a16:colId xmlns:a16="http://schemas.microsoft.com/office/drawing/2014/main" val="2628095995"/>
                    </a:ext>
                  </a:extLst>
                </a:gridCol>
                <a:gridCol w="877292">
                  <a:extLst>
                    <a:ext uri="{9D8B030D-6E8A-4147-A177-3AD203B41FA5}">
                      <a16:colId xmlns:a16="http://schemas.microsoft.com/office/drawing/2014/main" val="670253171"/>
                    </a:ext>
                  </a:extLst>
                </a:gridCol>
              </a:tblGrid>
              <a:tr h="314128">
                <a:tc gridSpan="5">
                  <a:txBody>
                    <a:bodyPr/>
                    <a:lstStyle/>
                    <a:p>
                      <a:pPr algn="ctr">
                        <a:buNone/>
                      </a:pPr>
                      <a:r>
                        <a:rPr lang="en-US" sz="1000" dirty="0">
                          <a:effectLst/>
                          <a:latin typeface="+mj-lt"/>
                        </a:rPr>
                        <a:t>VGG-16</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94422391"/>
                  </a:ext>
                </a:extLst>
              </a:tr>
              <a:tr h="350868">
                <a:tc rowSpan="2">
                  <a:txBody>
                    <a:bodyPr/>
                    <a:lstStyle/>
                    <a:p>
                      <a:pPr algn="ctr">
                        <a:buNone/>
                      </a:pPr>
                      <a:r>
                        <a:rPr lang="en-US" sz="1000" dirty="0">
                          <a:effectLst/>
                          <a:latin typeface="+mj-lt"/>
                        </a:rPr>
                        <a:t> </a:t>
                      </a:r>
                      <a:endParaRPr lang="en-IN" sz="1000" dirty="0">
                        <a:effectLst/>
                        <a:latin typeface="+mj-lt"/>
                      </a:endParaRPr>
                    </a:p>
                    <a:p>
                      <a:pPr algn="ctr">
                        <a:buNone/>
                      </a:pPr>
                      <a:r>
                        <a:rPr lang="en-US" sz="1000" dirty="0">
                          <a:effectLst/>
                          <a:latin typeface="+mj-lt"/>
                        </a:rPr>
                        <a:t> </a:t>
                      </a:r>
                      <a:endParaRPr lang="en-IN" sz="1000" dirty="0">
                        <a:effectLst/>
                        <a:latin typeface="+mj-lt"/>
                      </a:endParaRPr>
                    </a:p>
                    <a:p>
                      <a:pPr algn="ctr">
                        <a:buNone/>
                      </a:pPr>
                      <a:r>
                        <a:rPr lang="en-US" sz="1000" dirty="0">
                          <a:effectLst/>
                          <a:latin typeface="+mj-lt"/>
                        </a:rPr>
                        <a:t>Epochs</a:t>
                      </a:r>
                      <a:endParaRPr lang="en-IN" sz="1000" dirty="0">
                        <a:effectLst/>
                        <a:latin typeface="+mj-lt"/>
                        <a:ea typeface="SimSun" panose="02010600030101010101" pitchFamily="2" charset="-122"/>
                      </a:endParaRPr>
                    </a:p>
                  </a:txBody>
                  <a:tcPr marL="68580" marR="68580" marT="0" marB="0" anchor="ctr"/>
                </a:tc>
                <a:tc gridSpan="2">
                  <a:txBody>
                    <a:bodyPr/>
                    <a:lstStyle/>
                    <a:p>
                      <a:pPr algn="ctr">
                        <a:buNone/>
                      </a:pPr>
                      <a:r>
                        <a:rPr lang="en-US" sz="1000" dirty="0">
                          <a:effectLst/>
                          <a:latin typeface="+mj-lt"/>
                        </a:rPr>
                        <a:t>Performance Accuracy</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tc gridSpan="2">
                  <a:txBody>
                    <a:bodyPr/>
                    <a:lstStyle/>
                    <a:p>
                      <a:pPr algn="ctr">
                        <a:buNone/>
                      </a:pPr>
                      <a:r>
                        <a:rPr lang="en-US" sz="1000" dirty="0">
                          <a:effectLst/>
                          <a:latin typeface="+mj-lt"/>
                        </a:rPr>
                        <a:t>Performance Loss</a:t>
                      </a:r>
                      <a:endParaRPr lang="en-IN" sz="1000" dirty="0">
                        <a:effectLst/>
                        <a:latin typeface="+mj-lt"/>
                      </a:endParaRPr>
                    </a:p>
                    <a:p>
                      <a:pPr algn="ctr">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hMerge="1">
                  <a:txBody>
                    <a:bodyPr/>
                    <a:lstStyle/>
                    <a:p>
                      <a:endParaRPr lang="en-IN"/>
                    </a:p>
                  </a:txBody>
                  <a:tcPr/>
                </a:tc>
                <a:extLst>
                  <a:ext uri="{0D108BD9-81ED-4DB2-BD59-A6C34878D82A}">
                    <a16:rowId xmlns:a16="http://schemas.microsoft.com/office/drawing/2014/main" val="349561125"/>
                  </a:ext>
                </a:extLst>
              </a:tr>
              <a:tr h="745594">
                <a:tc vMerge="1">
                  <a:txBody>
                    <a:bodyPr/>
                    <a:lstStyle/>
                    <a:p>
                      <a:endParaRPr lang="en-IN"/>
                    </a:p>
                  </a:txBody>
                  <a:tcPr/>
                </a:tc>
                <a:tc>
                  <a:txBody>
                    <a:bodyPr/>
                    <a:lstStyle/>
                    <a:p>
                      <a:pPr algn="ctr">
                        <a:spcBef>
                          <a:spcPts val="1200"/>
                        </a:spcBef>
                        <a:buNone/>
                      </a:pPr>
                      <a:r>
                        <a:rPr lang="en-US" sz="1000" dirty="0">
                          <a:effectLst/>
                          <a:latin typeface="+mj-lt"/>
                        </a:rPr>
                        <a:t>Training Accuracy</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Validation Accuracy</a:t>
                      </a:r>
                      <a:endParaRPr lang="en-IN" sz="1000" dirty="0">
                        <a:effectLst/>
                        <a:latin typeface="+mj-lt"/>
                      </a:endParaRPr>
                    </a:p>
                    <a:p>
                      <a:pPr algn="ctr">
                        <a:spcBef>
                          <a:spcPts val="1200"/>
                        </a:spcBef>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Training Loss</a:t>
                      </a:r>
                      <a:endParaRPr lang="en-IN" sz="1000" dirty="0">
                        <a:effectLst/>
                        <a:latin typeface="+mj-lt"/>
                      </a:endParaRPr>
                    </a:p>
                    <a:p>
                      <a:pPr algn="ctr">
                        <a:spcBef>
                          <a:spcPts val="1200"/>
                        </a:spcBef>
                        <a:buNone/>
                      </a:pPr>
                      <a:r>
                        <a:rPr lang="en-US" sz="1000" dirty="0">
                          <a:effectLst/>
                          <a:latin typeface="+mj-lt"/>
                        </a:rPr>
                        <a:t> </a:t>
                      </a:r>
                      <a:endParaRPr lang="en-IN" sz="1000" dirty="0">
                        <a:effectLst/>
                        <a:latin typeface="+mj-lt"/>
                        <a:ea typeface="SimSun" panose="02010600030101010101" pitchFamily="2" charset="-122"/>
                      </a:endParaRPr>
                    </a:p>
                  </a:txBody>
                  <a:tcPr marL="68580" marR="68580" marT="0" marB="0" anchor="ctr"/>
                </a:tc>
                <a:tc>
                  <a:txBody>
                    <a:bodyPr/>
                    <a:lstStyle/>
                    <a:p>
                      <a:pPr algn="ctr">
                        <a:spcBef>
                          <a:spcPts val="1200"/>
                        </a:spcBef>
                        <a:buNone/>
                      </a:pPr>
                      <a:r>
                        <a:rPr lang="en-US" sz="1000" dirty="0">
                          <a:effectLst/>
                          <a:latin typeface="+mj-lt"/>
                        </a:rPr>
                        <a:t>Validation Loss</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923075945"/>
                  </a:ext>
                </a:extLst>
              </a:tr>
              <a:tr h="175434">
                <a:tc>
                  <a:txBody>
                    <a:bodyPr/>
                    <a:lstStyle/>
                    <a:p>
                      <a:pPr algn="ctr">
                        <a:buNone/>
                      </a:pPr>
                      <a:r>
                        <a:rPr lang="en-US" sz="1000" dirty="0">
                          <a:effectLst/>
                          <a:latin typeface="+mj-lt"/>
                        </a:rPr>
                        <a:t>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0.637475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0.642475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0.678875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415203333"/>
                  </a:ext>
                </a:extLst>
              </a:tr>
              <a:tr h="175434">
                <a:tc>
                  <a:txBody>
                    <a:bodyPr/>
                    <a:lstStyle/>
                    <a:p>
                      <a:pPr algn="ctr">
                        <a:buNone/>
                      </a:pPr>
                      <a:r>
                        <a:rPr lang="en-US" sz="1000" dirty="0">
                          <a:effectLst/>
                          <a:latin typeface="+mj-lt"/>
                        </a:rPr>
                        <a:t>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0.714275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0.531650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0.601000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906728886"/>
                  </a:ext>
                </a:extLst>
              </a:tr>
              <a:tr h="175434">
                <a:tc>
                  <a:txBody>
                    <a:bodyPr/>
                    <a:lstStyle/>
                    <a:p>
                      <a:pPr algn="ctr">
                        <a:buNone/>
                      </a:pPr>
                      <a:r>
                        <a:rPr lang="en-US" sz="1000" dirty="0">
                          <a:effectLst/>
                          <a:latin typeface="+mj-lt"/>
                        </a:rPr>
                        <a:t>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0.746975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0.74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0.480125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0.543325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2964955728"/>
                  </a:ext>
                </a:extLst>
              </a:tr>
              <a:tr h="175434">
                <a:tc>
                  <a:txBody>
                    <a:bodyPr/>
                    <a:lstStyle/>
                    <a:p>
                      <a:pPr algn="ctr">
                        <a:buNone/>
                      </a:pPr>
                      <a:r>
                        <a:rPr lang="en-US" sz="1000" dirty="0">
                          <a:effectLst/>
                          <a:latin typeface="+mj-lt"/>
                        </a:rPr>
                        <a:t>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0.849375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0.372900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0.380075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4121192952"/>
                  </a:ext>
                </a:extLst>
              </a:tr>
              <a:tr h="175434">
                <a:tc>
                  <a:txBody>
                    <a:bodyPr/>
                    <a:lstStyle/>
                    <a:p>
                      <a:pPr algn="ctr">
                        <a:buNone/>
                      </a:pPr>
                      <a:r>
                        <a:rPr lang="en-US" sz="1000" dirty="0">
                          <a:effectLst/>
                          <a:latin typeface="+mj-lt"/>
                        </a:rPr>
                        <a:t>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0.869150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0.313300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0.337925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2934558799"/>
                  </a:ext>
                </a:extLst>
              </a:tr>
              <a:tr h="175434">
                <a:tc>
                  <a:txBody>
                    <a:bodyPr/>
                    <a:lstStyle/>
                    <a:p>
                      <a:pPr algn="ctr">
                        <a:buNone/>
                      </a:pPr>
                      <a:r>
                        <a:rPr lang="en-US" sz="1000" dirty="0">
                          <a:effectLst/>
                          <a:latin typeface="+mj-lt"/>
                        </a:rPr>
                        <a:t>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0.888275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0.290825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0.286575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780961037"/>
                  </a:ext>
                </a:extLst>
              </a:tr>
              <a:tr h="175434">
                <a:tc>
                  <a:txBody>
                    <a:bodyPr/>
                    <a:lstStyle/>
                    <a:p>
                      <a:pPr algn="ctr">
                        <a:buNone/>
                      </a:pPr>
                      <a:r>
                        <a:rPr lang="en-US" sz="1000" dirty="0">
                          <a:effectLst/>
                          <a:latin typeface="+mj-lt"/>
                        </a:rPr>
                        <a:t>7</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0.924000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0.83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0.190250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0.401275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3929833318"/>
                  </a:ext>
                </a:extLst>
              </a:tr>
              <a:tr h="175434">
                <a:tc>
                  <a:txBody>
                    <a:bodyPr/>
                    <a:lstStyle/>
                    <a:p>
                      <a:pPr algn="ctr">
                        <a:buNone/>
                      </a:pPr>
                      <a:r>
                        <a:rPr lang="en-US" sz="1000" dirty="0">
                          <a:effectLst/>
                          <a:latin typeface="+mj-lt"/>
                        </a:rPr>
                        <a:t>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0.961325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0.135725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0.238600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173871225"/>
                  </a:ext>
                </a:extLst>
              </a:tr>
              <a:tr h="175434">
                <a:tc>
                  <a:txBody>
                    <a:bodyPr/>
                    <a:lstStyle/>
                    <a:p>
                      <a:pPr algn="ctr">
                        <a:buNone/>
                      </a:pPr>
                      <a:r>
                        <a:rPr lang="en-US" sz="1000" dirty="0">
                          <a:effectLst/>
                          <a:latin typeface="+mj-lt"/>
                        </a:rPr>
                        <a:t>9</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0.954326</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0.100498</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0.235640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839752543"/>
                  </a:ext>
                </a:extLst>
              </a:tr>
              <a:tr h="175434">
                <a:tc>
                  <a:txBody>
                    <a:bodyPr/>
                    <a:lstStyle/>
                    <a:p>
                      <a:pPr algn="ctr">
                        <a:buNone/>
                      </a:pPr>
                      <a:r>
                        <a:rPr lang="en-US" sz="1000" dirty="0">
                          <a:effectLst/>
                          <a:latin typeface="+mj-lt"/>
                        </a:rPr>
                        <a:t>10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0.973325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0.080175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0.235550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754367022"/>
                  </a:ext>
                </a:extLst>
              </a:tr>
              <a:tr h="175434">
                <a:tc>
                  <a:txBody>
                    <a:bodyPr/>
                    <a:lstStyle/>
                    <a:p>
                      <a:pPr algn="ctr">
                        <a:buNone/>
                      </a:pPr>
                      <a:r>
                        <a:rPr lang="en-US" sz="1000" dirty="0">
                          <a:effectLst/>
                          <a:latin typeface="+mj-lt"/>
                        </a:rPr>
                        <a:t>11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0.973050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0.91</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0.082400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0.225700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141795055"/>
                  </a:ext>
                </a:extLst>
              </a:tr>
              <a:tr h="175434">
                <a:tc>
                  <a:txBody>
                    <a:bodyPr/>
                    <a:lstStyle/>
                    <a:p>
                      <a:pPr algn="ctr">
                        <a:buNone/>
                      </a:pPr>
                      <a:r>
                        <a:rPr lang="en-US" sz="1000" dirty="0">
                          <a:effectLst/>
                          <a:latin typeface="+mj-lt"/>
                        </a:rPr>
                        <a:t>12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0.971175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0.091675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0.215725</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2864915270"/>
                  </a:ext>
                </a:extLst>
              </a:tr>
              <a:tr h="175434">
                <a:tc>
                  <a:txBody>
                    <a:bodyPr/>
                    <a:lstStyle/>
                    <a:p>
                      <a:pPr algn="ctr">
                        <a:buNone/>
                      </a:pPr>
                      <a:r>
                        <a:rPr lang="en-US" sz="1000" dirty="0">
                          <a:effectLst/>
                          <a:latin typeface="+mj-lt"/>
                        </a:rPr>
                        <a:t>13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0.971954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0.93</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0.086382</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0.217680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919248916"/>
                  </a:ext>
                </a:extLst>
              </a:tr>
              <a:tr h="175434">
                <a:tc>
                  <a:txBody>
                    <a:bodyPr/>
                    <a:lstStyle/>
                    <a:p>
                      <a:pPr algn="ctr">
                        <a:buNone/>
                      </a:pPr>
                      <a:r>
                        <a:rPr lang="en-US" sz="1000" dirty="0">
                          <a:effectLst/>
                          <a:latin typeface="+mj-lt"/>
                        </a:rPr>
                        <a:t>14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0.970950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0.075350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0.228250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4068265317"/>
                  </a:ext>
                </a:extLst>
              </a:tr>
              <a:tr h="175434">
                <a:tc>
                  <a:txBody>
                    <a:bodyPr/>
                    <a:lstStyle/>
                    <a:p>
                      <a:pPr algn="ctr">
                        <a:buNone/>
                      </a:pPr>
                      <a:r>
                        <a:rPr lang="en-US" sz="1000" dirty="0">
                          <a:effectLst/>
                          <a:latin typeface="+mj-lt"/>
                        </a:rPr>
                        <a:t>15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0.982625</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0.94</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0.067850</a:t>
                      </a:r>
                      <a:endParaRPr lang="en-IN" sz="1000" dirty="0">
                        <a:effectLst/>
                        <a:latin typeface="+mj-lt"/>
                        <a:ea typeface="SimSun" panose="02010600030101010101" pitchFamily="2" charset="-122"/>
                      </a:endParaRPr>
                    </a:p>
                  </a:txBody>
                  <a:tcPr marL="68580" marR="68580" marT="0" marB="0" anchor="ctr"/>
                </a:tc>
                <a:tc>
                  <a:txBody>
                    <a:bodyPr/>
                    <a:lstStyle/>
                    <a:p>
                      <a:pPr algn="ctr">
                        <a:buNone/>
                      </a:pPr>
                      <a:r>
                        <a:rPr lang="en-US" sz="1000" dirty="0">
                          <a:effectLst/>
                          <a:latin typeface="+mj-lt"/>
                        </a:rPr>
                        <a:t>0.224250</a:t>
                      </a:r>
                      <a:endParaRPr lang="en-IN" sz="1000" dirty="0">
                        <a:effectLst/>
                        <a:latin typeface="+mj-lt"/>
                        <a:ea typeface="SimSun" panose="02010600030101010101" pitchFamily="2" charset="-122"/>
                      </a:endParaRPr>
                    </a:p>
                  </a:txBody>
                  <a:tcPr marL="68580" marR="68580" marT="0" marB="0" anchor="ctr"/>
                </a:tc>
                <a:extLst>
                  <a:ext uri="{0D108BD9-81ED-4DB2-BD59-A6C34878D82A}">
                    <a16:rowId xmlns:a16="http://schemas.microsoft.com/office/drawing/2014/main" val="1642248281"/>
                  </a:ext>
                </a:extLst>
              </a:tr>
            </a:tbl>
          </a:graphicData>
        </a:graphic>
      </p:graphicFrame>
      <p:sp>
        <p:nvSpPr>
          <p:cNvPr id="6" name="Rectangle 5">
            <a:extLst>
              <a:ext uri="{FF2B5EF4-FFF2-40B4-BE49-F238E27FC236}">
                <a16:creationId xmlns:a16="http://schemas.microsoft.com/office/drawing/2014/main" id="{F20553F6-8094-64D4-D39B-E44BD79DFBE7}"/>
              </a:ext>
            </a:extLst>
          </p:cNvPr>
          <p:cNvSpPr/>
          <p:nvPr/>
        </p:nvSpPr>
        <p:spPr>
          <a:xfrm>
            <a:off x="1156217" y="6014884"/>
            <a:ext cx="4448114" cy="186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Table-I: Baseline CNN model performance across epochs</a:t>
            </a:r>
            <a:endParaRPr lang="en-IN" dirty="0">
              <a:solidFill>
                <a:schemeClr val="tx1"/>
              </a:solidFill>
              <a:latin typeface="+mj-lt"/>
            </a:endParaRPr>
          </a:p>
        </p:txBody>
      </p:sp>
      <p:sp>
        <p:nvSpPr>
          <p:cNvPr id="9" name="Rectangle 8">
            <a:extLst>
              <a:ext uri="{FF2B5EF4-FFF2-40B4-BE49-F238E27FC236}">
                <a16:creationId xmlns:a16="http://schemas.microsoft.com/office/drawing/2014/main" id="{47D7E2C0-10BD-3509-E525-1E69182167E3}"/>
              </a:ext>
            </a:extLst>
          </p:cNvPr>
          <p:cNvSpPr/>
          <p:nvPr/>
        </p:nvSpPr>
        <p:spPr>
          <a:xfrm>
            <a:off x="5920987" y="6007510"/>
            <a:ext cx="4448114" cy="186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Table-II: VGG-16 model performance across epochs</a:t>
            </a:r>
            <a:endParaRPr lang="en-IN" dirty="0">
              <a:solidFill>
                <a:schemeClr val="tx1"/>
              </a:solidFill>
              <a:latin typeface="+mj-lt"/>
            </a:endParaRPr>
          </a:p>
        </p:txBody>
      </p:sp>
      <p:sp>
        <p:nvSpPr>
          <p:cNvPr id="10" name="Slide Number Placeholder 9">
            <a:extLst>
              <a:ext uri="{FF2B5EF4-FFF2-40B4-BE49-F238E27FC236}">
                <a16:creationId xmlns:a16="http://schemas.microsoft.com/office/drawing/2014/main" id="{320B728A-DE8F-545C-406A-13927E45664A}"/>
              </a:ext>
            </a:extLst>
          </p:cNvPr>
          <p:cNvSpPr>
            <a:spLocks noGrp="1"/>
          </p:cNvSpPr>
          <p:nvPr>
            <p:ph type="sldNum" sz="quarter" idx="12"/>
          </p:nvPr>
        </p:nvSpPr>
        <p:spPr/>
        <p:txBody>
          <a:bodyPr/>
          <a:lstStyle/>
          <a:p>
            <a:fld id="{D8F7052E-6653-4917-A34D-F57A760E32EA}" type="slidenum">
              <a:rPr lang="en-IN" smtClean="0"/>
              <a:t>17</a:t>
            </a:fld>
            <a:endParaRPr lang="en-IN" dirty="0"/>
          </a:p>
        </p:txBody>
      </p:sp>
    </p:spTree>
    <p:extLst>
      <p:ext uri="{BB962C8B-B14F-4D97-AF65-F5344CB8AC3E}">
        <p14:creationId xmlns:p14="http://schemas.microsoft.com/office/powerpoint/2010/main" val="2673980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FEC1-4171-8061-5815-31B287EEC464}"/>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Graphs</a:t>
            </a:r>
            <a:endParaRPr lang="en-IN" dirty="0"/>
          </a:p>
        </p:txBody>
      </p:sp>
      <p:pic>
        <p:nvPicPr>
          <p:cNvPr id="4" name="Image 16">
            <a:extLst>
              <a:ext uri="{FF2B5EF4-FFF2-40B4-BE49-F238E27FC236}">
                <a16:creationId xmlns:a16="http://schemas.microsoft.com/office/drawing/2014/main" id="{CBE967D6-2A30-D1F9-81ED-3AD157CF12E3}"/>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233353" y="2188302"/>
            <a:ext cx="4715161" cy="3750382"/>
          </a:xfrm>
          <a:prstGeom prst="rect">
            <a:avLst/>
          </a:prstGeom>
        </p:spPr>
      </p:pic>
      <p:pic>
        <p:nvPicPr>
          <p:cNvPr id="5" name="Picture 4">
            <a:extLst>
              <a:ext uri="{FF2B5EF4-FFF2-40B4-BE49-F238E27FC236}">
                <a16:creationId xmlns:a16="http://schemas.microsoft.com/office/drawing/2014/main" id="{01B2F594-7775-09F6-330B-F050C85E2B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243487" y="2188302"/>
            <a:ext cx="4903381" cy="3750382"/>
          </a:xfrm>
          <a:prstGeom prst="rect">
            <a:avLst/>
          </a:prstGeom>
          <a:noFill/>
        </p:spPr>
      </p:pic>
      <p:sp>
        <p:nvSpPr>
          <p:cNvPr id="6" name="Slide Number Placeholder 5">
            <a:extLst>
              <a:ext uri="{FF2B5EF4-FFF2-40B4-BE49-F238E27FC236}">
                <a16:creationId xmlns:a16="http://schemas.microsoft.com/office/drawing/2014/main" id="{E7D3285D-AA36-1665-D745-EB0092362183}"/>
              </a:ext>
            </a:extLst>
          </p:cNvPr>
          <p:cNvSpPr>
            <a:spLocks noGrp="1"/>
          </p:cNvSpPr>
          <p:nvPr>
            <p:ph type="sldNum" sz="quarter" idx="12"/>
          </p:nvPr>
        </p:nvSpPr>
        <p:spPr/>
        <p:txBody>
          <a:bodyPr/>
          <a:lstStyle/>
          <a:p>
            <a:fld id="{D8F7052E-6653-4917-A34D-F57A760E32EA}" type="slidenum">
              <a:rPr lang="en-IN" smtClean="0"/>
              <a:t>18</a:t>
            </a:fld>
            <a:endParaRPr lang="en-IN" dirty="0"/>
          </a:p>
        </p:txBody>
      </p:sp>
    </p:spTree>
    <p:extLst>
      <p:ext uri="{BB962C8B-B14F-4D97-AF65-F5344CB8AC3E}">
        <p14:creationId xmlns:p14="http://schemas.microsoft.com/office/powerpoint/2010/main" val="2856206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4882-CA16-B5C8-39A1-CF887106B8AC}"/>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Contd..</a:t>
            </a:r>
            <a:endParaRPr lang="en-IN" dirty="0"/>
          </a:p>
        </p:txBody>
      </p:sp>
      <p:sp>
        <p:nvSpPr>
          <p:cNvPr id="7" name="Slide Number Placeholder 6">
            <a:extLst>
              <a:ext uri="{FF2B5EF4-FFF2-40B4-BE49-F238E27FC236}">
                <a16:creationId xmlns:a16="http://schemas.microsoft.com/office/drawing/2014/main" id="{000F99A2-819B-C7A4-2D67-CEFD1B28D3F9}"/>
              </a:ext>
            </a:extLst>
          </p:cNvPr>
          <p:cNvSpPr>
            <a:spLocks noGrp="1"/>
          </p:cNvSpPr>
          <p:nvPr>
            <p:ph type="sldNum" sz="quarter" idx="12"/>
          </p:nvPr>
        </p:nvSpPr>
        <p:spPr/>
        <p:txBody>
          <a:bodyPr/>
          <a:lstStyle/>
          <a:p>
            <a:fld id="{D8F7052E-6653-4917-A34D-F57A760E32EA}" type="slidenum">
              <a:rPr lang="en-IN" smtClean="0"/>
              <a:t>19</a:t>
            </a:fld>
            <a:endParaRPr lang="en-IN" dirty="0"/>
          </a:p>
        </p:txBody>
      </p:sp>
      <p:pic>
        <p:nvPicPr>
          <p:cNvPr id="1026" name="Picture 2">
            <a:extLst>
              <a:ext uri="{FF2B5EF4-FFF2-40B4-BE49-F238E27FC236}">
                <a16:creationId xmlns:a16="http://schemas.microsoft.com/office/drawing/2014/main" id="{8B812385-088A-57F3-4C2C-20AB89247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2" y="1855567"/>
            <a:ext cx="4586862" cy="40599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EE5382-77AC-FB09-83DC-323429B47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3107" y="1855567"/>
            <a:ext cx="5059376" cy="4059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82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970AA-B7F0-F2A5-5DAA-30054476FEEB}"/>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Output</a:t>
            </a:r>
            <a:endParaRPr lang="en-IN" dirty="0"/>
          </a:p>
        </p:txBody>
      </p:sp>
      <p:pic>
        <p:nvPicPr>
          <p:cNvPr id="4" name="Image 14">
            <a:extLst>
              <a:ext uri="{FF2B5EF4-FFF2-40B4-BE49-F238E27FC236}">
                <a16:creationId xmlns:a16="http://schemas.microsoft.com/office/drawing/2014/main" id="{25D6E2F5-7CF3-DCEE-C4C2-978487AE22AD}"/>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258530" y="2025446"/>
            <a:ext cx="4371994" cy="3893573"/>
          </a:xfrm>
          <a:prstGeom prst="rect">
            <a:avLst/>
          </a:prstGeom>
        </p:spPr>
      </p:pic>
      <p:pic>
        <p:nvPicPr>
          <p:cNvPr id="5" name="Image 15">
            <a:extLst>
              <a:ext uri="{FF2B5EF4-FFF2-40B4-BE49-F238E27FC236}">
                <a16:creationId xmlns:a16="http://schemas.microsoft.com/office/drawing/2014/main" id="{8EE3DC94-632E-81F4-0F76-24ACE5209F74}"/>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6095999" y="2025446"/>
            <a:ext cx="4371993" cy="3893573"/>
          </a:xfrm>
          <a:prstGeom prst="rect">
            <a:avLst/>
          </a:prstGeom>
        </p:spPr>
      </p:pic>
      <p:sp>
        <p:nvSpPr>
          <p:cNvPr id="6" name="Slide Number Placeholder 5">
            <a:extLst>
              <a:ext uri="{FF2B5EF4-FFF2-40B4-BE49-F238E27FC236}">
                <a16:creationId xmlns:a16="http://schemas.microsoft.com/office/drawing/2014/main" id="{34C5DFF6-A790-46D5-5065-E63B16EDA17A}"/>
              </a:ext>
            </a:extLst>
          </p:cNvPr>
          <p:cNvSpPr>
            <a:spLocks noGrp="1"/>
          </p:cNvSpPr>
          <p:nvPr>
            <p:ph type="sldNum" sz="quarter" idx="12"/>
          </p:nvPr>
        </p:nvSpPr>
        <p:spPr/>
        <p:txBody>
          <a:bodyPr/>
          <a:lstStyle/>
          <a:p>
            <a:fld id="{D8F7052E-6653-4917-A34D-F57A760E32EA}" type="slidenum">
              <a:rPr lang="en-IN" smtClean="0"/>
              <a:t>20</a:t>
            </a:fld>
            <a:endParaRPr lang="en-IN" dirty="0"/>
          </a:p>
        </p:txBody>
      </p:sp>
    </p:spTree>
    <p:extLst>
      <p:ext uri="{BB962C8B-B14F-4D97-AF65-F5344CB8AC3E}">
        <p14:creationId xmlns:p14="http://schemas.microsoft.com/office/powerpoint/2010/main" val="3593471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D27F-7F67-DC24-58A9-62604B2AC3C0}"/>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99BE260F-5957-8882-FCEE-C9D9BEC1D122}"/>
              </a:ext>
            </a:extLst>
          </p:cNvPr>
          <p:cNvSpPr>
            <a:spLocks noGrp="1"/>
          </p:cNvSpPr>
          <p:nvPr>
            <p:ph idx="1"/>
          </p:nvPr>
        </p:nvSpPr>
        <p:spPr/>
        <p:txBody>
          <a:bodyPr>
            <a:normAutofit/>
          </a:bodyPr>
          <a:lstStyle/>
          <a:p>
            <a:pPr>
              <a:lnSpc>
                <a:spcPct val="150000"/>
              </a:lnSpc>
            </a:pPr>
            <a:r>
              <a:rPr lang="en-US" sz="1800" dirty="0">
                <a:latin typeface="+mj-lt"/>
              </a:rPr>
              <a:t>The proposed framework provides an efficient approach for automatic glioma detection and segmentation using MRI images. By using a modified VGG-16 backbone with YOLOv10 and HDSA modules, the model performs both tumor classification and segmentation effectively. The introduction of Resolution-Agnostic Loss (RAL) improves performance across MRI images of different resolutions. Experimental results on the BraTS dataset show high accuracy and reliable tumor detection. This system can assist radiologists by enabling faster and more accurate brain tumor diagnosis.</a:t>
            </a:r>
            <a:endParaRPr lang="en-IN" sz="1800" dirty="0">
              <a:latin typeface="+mj-lt"/>
            </a:endParaRPr>
          </a:p>
        </p:txBody>
      </p:sp>
      <p:sp>
        <p:nvSpPr>
          <p:cNvPr id="4" name="Slide Number Placeholder 3">
            <a:extLst>
              <a:ext uri="{FF2B5EF4-FFF2-40B4-BE49-F238E27FC236}">
                <a16:creationId xmlns:a16="http://schemas.microsoft.com/office/drawing/2014/main" id="{106B9F84-8674-CB16-613C-4A2082BAFCBF}"/>
              </a:ext>
            </a:extLst>
          </p:cNvPr>
          <p:cNvSpPr>
            <a:spLocks noGrp="1"/>
          </p:cNvSpPr>
          <p:nvPr>
            <p:ph type="sldNum" sz="quarter" idx="12"/>
          </p:nvPr>
        </p:nvSpPr>
        <p:spPr/>
        <p:txBody>
          <a:bodyPr/>
          <a:lstStyle/>
          <a:p>
            <a:fld id="{D8F7052E-6653-4917-A34D-F57A760E32EA}" type="slidenum">
              <a:rPr lang="en-IN" smtClean="0"/>
              <a:t>21</a:t>
            </a:fld>
            <a:endParaRPr lang="en-IN" dirty="0"/>
          </a:p>
        </p:txBody>
      </p:sp>
    </p:spTree>
    <p:extLst>
      <p:ext uri="{BB962C8B-B14F-4D97-AF65-F5344CB8AC3E}">
        <p14:creationId xmlns:p14="http://schemas.microsoft.com/office/powerpoint/2010/main" val="1619112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B5BA170-FABB-8D19-D613-A7DFB2EE6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380" y="244311"/>
            <a:ext cx="11533239" cy="57520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703A2E8-53BC-223D-B850-EE1ABFD3D4F8}"/>
              </a:ext>
            </a:extLst>
          </p:cNvPr>
          <p:cNvSpPr>
            <a:spLocks noGrp="1"/>
          </p:cNvSpPr>
          <p:nvPr>
            <p:ph type="sldNum" sz="quarter" idx="12"/>
          </p:nvPr>
        </p:nvSpPr>
        <p:spPr/>
        <p:txBody>
          <a:bodyPr/>
          <a:lstStyle/>
          <a:p>
            <a:fld id="{D8F7052E-6653-4917-A34D-F57A760E32EA}" type="slidenum">
              <a:rPr lang="en-IN" smtClean="0"/>
              <a:t>22</a:t>
            </a:fld>
            <a:endParaRPr lang="en-IN" dirty="0"/>
          </a:p>
        </p:txBody>
      </p:sp>
    </p:spTree>
    <p:extLst>
      <p:ext uri="{BB962C8B-B14F-4D97-AF65-F5344CB8AC3E}">
        <p14:creationId xmlns:p14="http://schemas.microsoft.com/office/powerpoint/2010/main" val="26180836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708</TotalTime>
  <Words>1582</Words>
  <Application>Microsoft Office PowerPoint</Application>
  <PresentationFormat>Widescreen</PresentationFormat>
  <Paragraphs>286</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Retrospect</vt:lpstr>
      <vt:lpstr>A Real-Time, Resolution-Agnostic AI Framework for Enhanced Glioma Detection and Segmentation</vt:lpstr>
      <vt:lpstr>Table  of  Contents</vt:lpstr>
      <vt:lpstr>Abstract</vt:lpstr>
      <vt:lpstr>What is a Glioma???</vt:lpstr>
      <vt:lpstr>Symptoms of  glioma</vt:lpstr>
      <vt:lpstr>Identification and Challenges of Glioma</vt:lpstr>
      <vt:lpstr>Existing System</vt:lpstr>
      <vt:lpstr>Limitations</vt:lpstr>
      <vt:lpstr>Literature Survey</vt:lpstr>
      <vt:lpstr>Contd..</vt:lpstr>
      <vt:lpstr>Proposed System</vt:lpstr>
      <vt:lpstr>Contd..</vt:lpstr>
      <vt:lpstr>Model Architecture</vt:lpstr>
      <vt:lpstr>Dataset</vt:lpstr>
      <vt:lpstr>Preprocessing</vt:lpstr>
      <vt:lpstr>Contd..</vt:lpstr>
      <vt:lpstr>Results</vt:lpstr>
      <vt:lpstr>Graphs</vt:lpstr>
      <vt:lpstr>Contd..</vt:lpstr>
      <vt:lpstr>Output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Yaswanth Chintada</dc:creator>
  <cp:lastModifiedBy>Yaswanth Chintada</cp:lastModifiedBy>
  <cp:revision>13</cp:revision>
  <dcterms:created xsi:type="dcterms:W3CDTF">2026-03-09T15:13:54Z</dcterms:created>
  <dcterms:modified xsi:type="dcterms:W3CDTF">2026-04-06T10:26:34Z</dcterms:modified>
</cp:coreProperties>
</file>